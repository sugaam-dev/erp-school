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3bf77f771f14c52" Type="http://schemas.openxmlformats.org/officeDocument/2006/relationships/extended-properties" Target="docProps/app.xml"/><Relationship Id="R55d9ef30778442c2" Type="http://schemas.openxmlformats.org/package/2006/relationships/metadata/core-properties" Target="docProps/core.xml"/><Relationship Id="R6908a9fa45324a4b"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e2c087d8d0cc4a21"/>
  </p:sldMasterIdLst>
  <p:notesMasterIdLst>
    <p:notesMasterId xmlns:r="http://schemas.openxmlformats.org/officeDocument/2006/relationships" r:id="R72c09d3a96ad45a4"/>
  </p:notesMasterIdLst>
  <p:sldIdLst>
    <p:sldId xmlns:ns0="http://schemas.openxmlformats.org/officeDocument/2006/relationships" id="256" ns0:id="rId6"/>
    <p:sldId xmlns:ns0="http://schemas.openxmlformats.org/officeDocument/2006/relationships" id="257" ns0:id="rId7"/>
    <p:sldId xmlns:ns0="http://schemas.openxmlformats.org/officeDocument/2006/relationships" id="258" ns0:id="rId8"/>
    <p:sldId xmlns:ns0="http://schemas.openxmlformats.org/officeDocument/2006/relationships" id="259" ns0:id="rId9"/>
    <p:sldId xmlns:ns0="http://schemas.openxmlformats.org/officeDocument/2006/relationships" id="260" ns0:id="rId10"/>
    <p:sldId xmlns:ns0="http://schemas.openxmlformats.org/officeDocument/2006/relationships" id="261" ns0:id="rId11"/>
    <p:sldId xmlns:ns0="http://schemas.openxmlformats.org/officeDocument/2006/relationships" id="262" ns0:id="rId12"/>
    <p:sldId xmlns:ns0="http://schemas.openxmlformats.org/officeDocument/2006/relationships" id="263" ns0:id="rId13"/>
    <p:sldId xmlns:ns0="http://schemas.openxmlformats.org/officeDocument/2006/relationships" id="264" ns0:id="rId14"/>
    <p:sldId xmlns:ns0="http://schemas.openxmlformats.org/officeDocument/2006/relationships" id="265" ns0:id="rId15"/>
    <p:sldId xmlns:ns0="http://schemas.openxmlformats.org/officeDocument/2006/relationships" id="266" ns0:id="rId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dd1afe8bc3842af" Type="http://schemas.openxmlformats.org/officeDocument/2006/relationships/tableStyles" Target="tableStyles.xml"/><Relationship Id="R4a872943581c4a49" Type="http://schemas.openxmlformats.org/officeDocument/2006/relationships/theme" Target="theme/theme1.xml"/><Relationship Id="R6ac7d8244eb94507" Type="http://schemas.openxmlformats.org/officeDocument/2006/relationships/presProps" Target="presProps.xml"/><Relationship Id="R72c09d3a96ad45a4" Type="http://schemas.openxmlformats.org/officeDocument/2006/relationships/notesMaster" Target="notesMasters/notesMaster1.xml"/><Relationship Id="Re2c087d8d0cc4a21"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4a0c4c3e84134eb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Tailored from the attached PMRG ERPNext Product Portfolio. This is a proposed solution for an Ayurveda college and its attached teaching hospital; no specific institution, size, budget or installed systems were supplied. BAMS workflows form the starting point, with postgraduate programs where applicable. All visuals are conceptual and editable; none represent a deployed customer system. Original PMRG logo retained unchanged. PMRG is presented as the implementation and integration provider, without a claim of official Frappe partner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pain points are hypotheses for discovery, not findings about a named college. Validate the current admission process, academic administration, hospital information system, billing, medicine dispensing and management reporting before finalising the proposal. Expected value is directional and should be measured against an agreed baseline.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architecture, not a claim that every feature is native to ERPNext. Frappe Education and Frappe HR are companion applications; Marley Health is a separately maintained healthcare app. Assess compatible releases and integration patterns before deployment. Ayurveda-specific case forms, clinical logbooks, therapy-resource optimisation, hostel workflows, library circulation, transport functions, evidence packs and AI assistance require configuration, development or integration. Existing applications can be retained if interfaces and responsibilities are agreed. Student and patient identities and access remain separate; only authorised data is shared. No third-party integration is presumed available.</a:t>
            </a:r>
          </a:p>
          <a:p/>
          <a:p>
            <a:r>
              <a:t>Source basis (reviewed 6 October 2026):</a:t>
            </a:r>
          </a:p>
          <a:p>
            <a:r>
              <a:t>Frappe Education: https://docs.frappe.io/education/introduction</a:t>
            </a:r>
          </a:p>
          <a:p>
            <a:r>
              <a:t>Frappe HR (maintainer repository): https://github.com/frappe/hrms</a:t>
            </a:r>
          </a:p>
          <a:p>
            <a:r>
              <a:t>Marley Health (maintainer repository): https://github.com/earthians/marley</a:t>
            </a:r>
          </a:p>
          <a:p>
            <a:r>
              <a:t>ERPNext batch and expiry tracking: https://docs.frappe.io/erpnext/batch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Frappe Education supports student and teacher management, admissions, fees, schedules, assessments and a student portal. College-specific BAMS / PG structures, eligibility rules, practical assessment formats, admission documents and university output formats must be configured and validated with the academic office. Clinical rotation planning, supervisor sign-off, competency logbooks, completion records and alumni extensions are PMRG custom or integrated scope. This does not imply automated access to counselling or university systems.</a:t>
            </a:r>
          </a:p>
          <a:p/>
          <a:p>
            <a:r>
              <a:t>Source basis (reviewed 6 October 2026):</a:t>
            </a:r>
          </a:p>
          <a:p>
            <a:r>
              <a:t>Frappe Education: https://docs.frappe.io/education/introduction</a:t>
            </a:r>
          </a:p>
          <a:p>
            <a:r>
              <a:t>Frappe Education assessment: https://docs.frappe.io/education/assessment-introduction</a:t>
            </a:r>
          </a:p>
          <a:p>
            <a:r>
              <a:t>Frappe Education student portal: https://docs.frappe.io/education/student-portal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hospital solution uses a compatible Marley Health deployment or integrates an existing HMIS, alongside ERPNext finance and stock. Validate clinical record fields, outpatient and inpatient workflows, lab interfaces, pharmacy dispensing, charge capture, consent and discharge templates with medical leadership. Ayurveda-specific history and examination formats, including fields chosen by the institution, are custom templates rather than native Ayurvedic clinical intelligence. Teaching access must minimise identifiable patient data and use permission controls; no broad student access to full medical records is implied. No diagnosis, prescription or treatment recommendation is delegated to AI.</a:t>
            </a:r>
          </a:p>
          <a:p/>
          <a:p>
            <a:r>
              <a:t>Source basis (reviewed 6 October 2026):</a:t>
            </a:r>
          </a:p>
          <a:p>
            <a:r>
              <a:t>Marley Health (maintainer repository): https://github.com/earthians/marley</a:t>
            </a:r>
          </a:p>
          <a:p>
            <a:r>
              <a:t>Patient encounter: https://frappehealth.com/docs/v13/user/manual/en/healthcare/patient_encounter</a:t>
            </a:r>
          </a:p>
          <a:p>
            <a:r>
              <a:t>Marley Health inpatient ADT: https://marleyhealth.io/docs/v13/user/manual/en/healthcare/inpatient_adt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ERPNext provides batch identifiers and expiry dates linked to stock movements. PMRG configures item masters, units, suppliers, pharmacies / warehouses, reorder policies and exception reports. Dispensing workflow and prescription linkage are validated with the healthcare app. Panchakarma templates can use therapy planning concepts, but Ayurveda protocols, therapist / room scheduling rules, consent, session records and consumable charge capture require scoped configuration or development. Treatment protocols remain clinician-approved. Optional teaching-pharmacy production can use bills of materials, work orders and batch records where suitable, subject to institution-specific quality and applicable manufacturing requirements. Herbal garden and museum registers are proposed custom records; no standards certification is claimed.</a:t>
            </a:r>
          </a:p>
          <a:p/>
          <a:p>
            <a:r>
              <a:t>Source basis (reviewed 6 October 2026):</a:t>
            </a:r>
          </a:p>
          <a:p>
            <a:r>
              <a:t>ERPNext batch and expiry tracking: https://docs.frappe.io/erpnext/batch</a:t>
            </a:r>
          </a:p>
          <a:p>
            <a:r>
              <a:t>Marley Health therapy templates: https://marleyhealth.io/docs/v13/user/manual/en/healthcare/therapy_plan_template</a:t>
            </a:r>
          </a:p>
          <a:p>
            <a:r>
              <a:t>Patient encounter: https://frappehealth.com/docs/v13/user/manual/en/healthcare/patient_encounter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back-office proposal combines ERPNext financial, procurement and asset capabilities with Frappe HR. Fees link to Frappe Education and hospital receipts link to the healthcare workflow. Institutional chart of accounts, fee concessions, payroll calculations and approval responsibilities require validation. Hostel, mess, transport allocation, grievances, library circulation, digital-learning content, research administration and community camps are not all native ERPNext features: use existing products or PMRG extensions. Research ethics approval is a record and approval-tracking workflow, not an automated ethical determination. India-specific tax and payroll extensions, where needed, must be separately assessed.</a:t>
            </a:r>
          </a:p>
          <a:p/>
          <a:p>
            <a:r>
              <a:t>Source basis (reviewed 6 October 2026):</a:t>
            </a:r>
          </a:p>
          <a:p>
            <a:r>
              <a:t>Frappe HR (maintainer repository): https://github.com/frappe/hrms</a:t>
            </a:r>
          </a:p>
          <a:p>
            <a:r>
              <a:t>Frappe Education: https://docs.frappe.io/education/introduction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features are optional proposed PMRG custom scope and are not asserted to be built into ERPNext or already deployed at an Ayurveda college. Start with document extraction, policy FAQ retrieval and exception summaries; use institution-approved sources and measure error rates. Admissions, grade publication, financial concessions, clinical decisions and regulatory submissions require authorised human decisions. External AI services must not receive identifiable student or patient data without a separately approved purpose, security arrangement and data-handling design. NCISM / university reporting refers to evidence preparation only: confirm the college’s current applicable requirements, amendments, submission formats and authorised attendance / statutory-system interfaces during discovery. Do not claim that generic biometric integration replaces any mandated attendance system. No guarantee of approval, accreditation, compliance or clinical outcomes is made.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operational scorecard, not measured client results or a promise of savings. Establish a representative baseline and agree calculation definitions and owners before the pilot. Examples: elapsed time after a complete admission file is accepted; overdue balances after approved concessions; proportion of required learning entries signed off by deadline; registration and consultation timestamps; physical stock-count accuracy, stockout events and expired-stock value; staff hours to assemble a validated evidence pack. The scorecard avoids financial return assumptions because budget and starting performance were not supplied. Clinical outcomes and accreditation decisions are outside this operational benefit claim.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pilot options are admissions-to-fee-reconciliation for one intake / department or OPD-to-pharmacy-and-billing for one service unit. Select one based on business priority and data readiness; do not imply both will be delivered within an unestimated small pilot. A credible delivery estimate requires institution size, patient volumes, user roles, integrations, historical migration needs and the extent of Ayurveda-specific development. PMRG implementation deliverables include process maps, configuration, scoped custom development, integration tests, opening-data reconciliation, role-based training, operating guides, cutover / rollback plan and hypercare. Acceptance requires agreed scenarios, named owners, reconciled migrated data, verified permissions and tested recovery. No binding duration, service level or price is offered in this introductory pitch.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to action: hold a discovery session with the principal / management, academic coordinator, administrative office, finance, medical superintendent, pharmacy and IT as relevant. Request institution profile and programs, student / faculty counts, OPD / IPD and pharmacy volumes, current systems and interfaces, representative forms / registers, reporting requirements and priority problems. Use anonymised examples for the demonstration. Prepare a scoped proposal with deliverables, app compatibility, assumptions, excluded items, acceptance criteria, milestones, responsibilities and recurring costs. PMRG owns the implementation engagement; open-source and third-party software licences remain applicable. This pitch makes no unsupported claim of existing Ayurveda-college clients, certifications, partner status, fixed price or guaranteed result.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ef1ffb4f614f4548"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cc6c1c424e94e7f"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f962eedcb4d456a"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1fb0b69a84554afb"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ee5e1019761402c"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c3d4ad8cada7411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E5FAF23-5AFF-458E-9262-73245039087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E0738BB-0FB4-425F-B254-96F1725B360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085857D8-A8B0-46CB-8276-FF4270F6DE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7A2F89D5-E2DC-4AB7-849E-50825BACD73B}"/>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E077405-979C-4DFC-93E7-234AC451F8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0E476E7-EFC6-46D4-B721-547AB7A1212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A652C18-4C98-4789-8685-D03646907A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B0CCB59-9A15-41BD-AFE9-20B5AAB268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88FEB0F-BA2E-4346-88DC-803A92E4651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B2D2194-50A0-4351-A3B0-B2F15B248F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3EF4D2A-CD67-4703-9C3B-EFB9EDD911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50B0935-262D-4996-AD61-01DDE620557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C534E57-596F-4D1F-ADD1-8E88D8AA963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7DDA996-DC3D-45F5-99BA-4A26BD9489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01E55AD-D459-45E2-AD22-B16E8C9FAA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120b3a36a7a495d" Type="http://schemas.openxmlformats.org/officeDocument/2006/relationships/slideLayout" Target="../slideLayouts/slideLayout4.xml"/><Relationship Id="R417d27941b0b4d54" Type="http://schemas.openxmlformats.org/officeDocument/2006/relationships/slideLayout" Target="../slideLayouts/slideLayout1.xml"/><Relationship Id="R6d129952c6064bf6" Type="http://schemas.openxmlformats.org/officeDocument/2006/relationships/slideLayout" Target="../slideLayouts/slideLayout6.xml"/><Relationship Id="R8173085984974658" Type="http://schemas.openxmlformats.org/officeDocument/2006/relationships/slideLayout" Target="../slideLayouts/slideLayout3.xml"/><Relationship Id="R94e04202cba940de" Type="http://schemas.openxmlformats.org/officeDocument/2006/relationships/slideLayout" Target="../slideLayouts/slideLayout5.xml"/><Relationship Id="R9f74ff0931ff44cb" Type="http://schemas.openxmlformats.org/officeDocument/2006/relationships/theme" Target="theme/theme2.xml"/><Relationship Id="Ra2503c8819d34add"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7d27941b0b4d54"/>
    <p:sldLayoutId xmlns:r="http://schemas.openxmlformats.org/officeDocument/2006/relationships" id="2147483650" r:id="Ra2503c8819d34add"/>
    <p:sldLayoutId xmlns:r="http://schemas.openxmlformats.org/officeDocument/2006/relationships" id="2147483651" r:id="R8173085984974658"/>
    <p:sldLayoutId xmlns:r="http://schemas.openxmlformats.org/officeDocument/2006/relationships" id="2147483652" r:id="R1120b3a36a7a495d"/>
    <p:sldLayoutId xmlns:r="http://schemas.openxmlformats.org/officeDocument/2006/relationships" id="2147483653" r:id="R94e04202cba940de"/>
    <p:sldLayoutId xmlns:r="http://schemas.openxmlformats.org/officeDocument/2006/relationships" id="2147483654" r:id="R6d129952c6064b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B2438"/>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85216" y="6400800"/>
            <a:ext cx="11009376" cy="0"/>
          </a:xfrm>
          <a:prstGeom prst="line">
            <a:avLst/>
          </a:prstGeom>
          <a:ln w="10160">
            <a:solidFill>
              <a:srgbClr val="2546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B8CDD8"/>
                </a:solidFill>
                <a:latin typeface="Arial"/>
              </a:rPr>
              <a:t>01 / 11</a:t>
            </a:r>
          </a:p>
        </p:txBody>
      </p:sp>
      <p:sp>
        <p:nvSpPr>
          <p:cNvPr id="8" name="Rounded Rectangle 7"/>
          <p:cNvSpPr/>
          <p:nvPr/>
        </p:nvSpPr>
        <p:spPr>
          <a:xfrm>
            <a:off x="512064" y="329184"/>
            <a:ext cx="2688336" cy="11155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mrg_logo.png"/>
          <p:cNvPicPr>
            <a:picLocks noChangeAspect="1"/>
          </p:cNvPicPr>
          <p:nvPr/>
        </p:nvPicPr>
        <p:blipFill>
          <a:blip r:embed="rId2"/>
          <a:stretch>
            <a:fillRect/>
          </a:stretch>
        </p:blipFill>
        <p:spPr>
          <a:xfrm>
            <a:off x="667512" y="448056"/>
            <a:ext cx="2377440" cy="1056382"/>
          </a:xfrm>
          <a:prstGeom prst="rect">
            <a:avLst/>
          </a:prstGeom>
        </p:spPr>
      </p:pic>
      <p:sp>
        <p:nvSpPr>
          <p:cNvPr id="10" name="TextBox 9"/>
          <p:cNvSpPr txBox="1"/>
          <p:nvPr/>
        </p:nvSpPr>
        <p:spPr>
          <a:xfrm>
            <a:off x="603504" y="1746504"/>
            <a:ext cx="5486400" cy="228600"/>
          </a:xfrm>
          <a:prstGeom prst="rect">
            <a:avLst/>
          </a:prstGeom>
          <a:noFill/>
        </p:spPr>
        <p:txBody>
          <a:bodyPr wrap="square" lIns="0" rIns="0" tIns="0" bIns="0" anchor="t">
            <a:spAutoFit/>
          </a:bodyPr>
          <a:lstStyle/>
          <a:p>
            <a:pPr algn="l">
              <a:lnSpc>
                <a:spcPct val="107000"/>
              </a:lnSpc>
              <a:spcBef>
                <a:spcPts val="0"/>
              </a:spcBef>
              <a:spcAft>
                <a:spcPts val="300"/>
              </a:spcAft>
            </a:pPr>
            <a:r>
              <a:rPr sz="1200" b="1">
                <a:solidFill>
                  <a:srgbClr val="77CFB3"/>
                </a:solidFill>
                <a:latin typeface="Arial"/>
              </a:rPr>
              <a:t>ERP &amp; DIGITAL CAMPUS PROPOSAL</a:t>
            </a:r>
          </a:p>
        </p:txBody>
      </p:sp>
      <p:sp>
        <p:nvSpPr>
          <p:cNvPr id="11" name="TextBox 10"/>
          <p:cNvSpPr txBox="1"/>
          <p:nvPr/>
        </p:nvSpPr>
        <p:spPr>
          <a:xfrm>
            <a:off x="585216" y="2221992"/>
            <a:ext cx="6446520" cy="2121408"/>
          </a:xfrm>
          <a:prstGeom prst="rect">
            <a:avLst/>
          </a:prstGeom>
          <a:noFill/>
        </p:spPr>
        <p:txBody>
          <a:bodyPr wrap="square" lIns="0" rIns="0" tIns="0" bIns="0" anchor="t">
            <a:spAutoFit/>
          </a:bodyPr>
          <a:lstStyle/>
          <a:p>
            <a:pPr algn="l">
              <a:lnSpc>
                <a:spcPct val="107000"/>
              </a:lnSpc>
              <a:spcBef>
                <a:spcPts val="0"/>
              </a:spcBef>
              <a:spcAft>
                <a:spcPts val="300"/>
              </a:spcAft>
            </a:pPr>
            <a:r>
              <a:rPr sz="4000" b="1">
                <a:solidFill>
                  <a:srgbClr val="FFFFFF"/>
                </a:solidFill>
                <a:latin typeface="Arial"/>
              </a:rPr>
              <a:t>Ayurveda College</a:t>
            </a:r>
          </a:p>
          <a:p>
            <a:pPr algn="l">
              <a:lnSpc>
                <a:spcPct val="107000"/>
              </a:lnSpc>
              <a:spcBef>
                <a:spcPts val="0"/>
              </a:spcBef>
              <a:spcAft>
                <a:spcPts val="300"/>
              </a:spcAft>
            </a:pPr>
            <a:r>
              <a:rPr sz="4000" b="1">
                <a:solidFill>
                  <a:srgbClr val="FFFFFF"/>
                </a:solidFill>
                <a:latin typeface="Arial"/>
              </a:rPr>
              <a:t>ERP &amp; Software</a:t>
            </a:r>
          </a:p>
          <a:p>
            <a:pPr algn="l">
              <a:lnSpc>
                <a:spcPct val="107000"/>
              </a:lnSpc>
              <a:spcBef>
                <a:spcPts val="0"/>
              </a:spcBef>
              <a:spcAft>
                <a:spcPts val="300"/>
              </a:spcAft>
            </a:pPr>
            <a:r>
              <a:rPr sz="4000" b="1">
                <a:solidFill>
                  <a:srgbClr val="FFFFFF"/>
                </a:solidFill>
                <a:latin typeface="Arial"/>
              </a:rPr>
              <a:t>Solution</a:t>
            </a:r>
          </a:p>
        </p:txBody>
      </p:sp>
      <p:sp>
        <p:nvSpPr>
          <p:cNvPr id="12" name="TextBox 11"/>
          <p:cNvSpPr txBox="1"/>
          <p:nvPr/>
        </p:nvSpPr>
        <p:spPr>
          <a:xfrm>
            <a:off x="630936" y="4517136"/>
            <a:ext cx="6080760" cy="822960"/>
          </a:xfrm>
          <a:prstGeom prst="rect">
            <a:avLst/>
          </a:prstGeom>
          <a:noFill/>
        </p:spPr>
        <p:txBody>
          <a:bodyPr wrap="square" lIns="0" rIns="0" tIns="0" bIns="0" anchor="t">
            <a:spAutoFit/>
          </a:bodyPr>
          <a:lstStyle/>
          <a:p>
            <a:pPr algn="l">
              <a:lnSpc>
                <a:spcPct val="107000"/>
              </a:lnSpc>
              <a:spcBef>
                <a:spcPts val="0"/>
              </a:spcBef>
              <a:spcAft>
                <a:spcPts val="300"/>
              </a:spcAft>
            </a:pPr>
            <a:r>
              <a:rPr sz="2200" b="0">
                <a:solidFill>
                  <a:srgbClr val="B8CDD8"/>
                </a:solidFill>
                <a:latin typeface="Arial"/>
              </a:rPr>
              <a:t>Connect academics, the teaching hospital</a:t>
            </a:r>
          </a:p>
          <a:p>
            <a:pPr algn="l">
              <a:lnSpc>
                <a:spcPct val="107000"/>
              </a:lnSpc>
              <a:spcBef>
                <a:spcPts val="0"/>
              </a:spcBef>
              <a:spcAft>
                <a:spcPts val="300"/>
              </a:spcAft>
            </a:pPr>
            <a:r>
              <a:rPr sz="2200" b="0">
                <a:solidFill>
                  <a:srgbClr val="B8CDD8"/>
                </a:solidFill>
                <a:latin typeface="Arial"/>
              </a:rPr>
              <a:t>and administration in one operating model.</a:t>
            </a:r>
          </a:p>
        </p:txBody>
      </p:sp>
      <p:sp>
        <p:nvSpPr>
          <p:cNvPr id="13" name="TextBox 12"/>
          <p:cNvSpPr txBox="1"/>
          <p:nvPr/>
        </p:nvSpPr>
        <p:spPr>
          <a:xfrm>
            <a:off x="630936" y="5568696"/>
            <a:ext cx="5852160" cy="566928"/>
          </a:xfrm>
          <a:prstGeom prst="rect">
            <a:avLst/>
          </a:prstGeom>
          <a:noFill/>
        </p:spPr>
        <p:txBody>
          <a:bodyPr wrap="square" lIns="0" rIns="0" tIns="0" bIns="0" anchor="t">
            <a:spAutoFit/>
          </a:bodyPr>
          <a:lstStyle/>
          <a:p>
            <a:pPr algn="l">
              <a:lnSpc>
                <a:spcPct val="107000"/>
              </a:lnSpc>
              <a:spcBef>
                <a:spcPts val="0"/>
              </a:spcBef>
              <a:spcAft>
                <a:spcPts val="300"/>
              </a:spcAft>
            </a:pPr>
            <a:r>
              <a:rPr sz="1500" b="0">
                <a:solidFill>
                  <a:srgbClr val="B8CDD8"/>
                </a:solidFill>
                <a:latin typeface="Arial"/>
              </a:rPr>
              <a:t>ERPNext + Frappe ecosystem</a:t>
            </a:r>
          </a:p>
          <a:p>
            <a:pPr algn="l">
              <a:lnSpc>
                <a:spcPct val="107000"/>
              </a:lnSpc>
              <a:spcBef>
                <a:spcPts val="0"/>
              </a:spcBef>
              <a:spcAft>
                <a:spcPts val="300"/>
              </a:spcAft>
            </a:pPr>
            <a:r>
              <a:rPr sz="1500" b="0">
                <a:solidFill>
                  <a:srgbClr val="B8CDD8"/>
                </a:solidFill>
                <a:latin typeface="Arial"/>
              </a:rPr>
              <a:t>Configured and integrated by PMRG Solution LLP</a:t>
            </a:r>
          </a:p>
        </p:txBody>
      </p:sp>
      <p:sp>
        <p:nvSpPr>
          <p:cNvPr id="14" name="Rounded Rectangle 13"/>
          <p:cNvSpPr/>
          <p:nvPr/>
        </p:nvSpPr>
        <p:spPr>
          <a:xfrm>
            <a:off x="7132320" y="1719072"/>
            <a:ext cx="4453128" cy="4425696"/>
          </a:xfrm>
          <a:prstGeom prst="roundRect">
            <a:avLst>
              <a:gd name="adj" fmla="val 10000"/>
            </a:avLst>
          </a:prstGeom>
          <a:solidFill>
            <a:srgbClr val="113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88352" y="1975104"/>
            <a:ext cx="3977639"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77CFB3"/>
                </a:solidFill>
                <a:latin typeface="Arial"/>
              </a:rPr>
              <a:t>ONE INSTITUTION. CONNECTED WORKFLOWS.</a:t>
            </a:r>
          </a:p>
        </p:txBody>
      </p:sp>
      <p:sp>
        <p:nvSpPr>
          <p:cNvPr id="16" name="Oval 15"/>
          <p:cNvSpPr/>
          <p:nvPr/>
        </p:nvSpPr>
        <p:spPr>
          <a:xfrm>
            <a:off x="7415783" y="2606040"/>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15783" y="2624328"/>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01</a:t>
            </a:r>
          </a:p>
        </p:txBody>
      </p:sp>
      <p:sp>
        <p:nvSpPr>
          <p:cNvPr id="18" name="TextBox 17"/>
          <p:cNvSpPr txBox="1"/>
          <p:nvPr/>
        </p:nvSpPr>
        <p:spPr>
          <a:xfrm>
            <a:off x="8019288" y="2551176"/>
            <a:ext cx="3200400" cy="283464"/>
          </a:xfrm>
          <a:prstGeom prst="rect">
            <a:avLst/>
          </a:prstGeom>
          <a:noFill/>
        </p:spPr>
        <p:txBody>
          <a:bodyPr wrap="square" lIns="0" rIns="0" tIns="0" bIns="0" anchor="t">
            <a:spAutoFit/>
          </a:bodyPr>
          <a:lstStyle/>
          <a:p>
            <a:pPr algn="l">
              <a:lnSpc>
                <a:spcPct val="107000"/>
              </a:lnSpc>
              <a:spcBef>
                <a:spcPts val="0"/>
              </a:spcBef>
              <a:spcAft>
                <a:spcPts val="300"/>
              </a:spcAft>
            </a:pPr>
            <a:r>
              <a:rPr sz="1600" b="1">
                <a:solidFill>
                  <a:srgbClr val="FFFFFF"/>
                </a:solidFill>
                <a:latin typeface="Arial"/>
              </a:rPr>
              <a:t>ACADEMICS</a:t>
            </a:r>
          </a:p>
        </p:txBody>
      </p:sp>
      <p:sp>
        <p:nvSpPr>
          <p:cNvPr id="19" name="TextBox 18"/>
          <p:cNvSpPr txBox="1"/>
          <p:nvPr/>
        </p:nvSpPr>
        <p:spPr>
          <a:xfrm>
            <a:off x="8019288" y="2898648"/>
            <a:ext cx="3154680" cy="365760"/>
          </a:xfrm>
          <a:prstGeom prst="rect">
            <a:avLst/>
          </a:prstGeom>
          <a:noFill/>
        </p:spPr>
        <p:txBody>
          <a:bodyPr wrap="square" lIns="0" rIns="0" tIns="0" bIns="0" anchor="t">
            <a:spAutoFit/>
          </a:bodyPr>
          <a:lstStyle/>
          <a:p>
            <a:pPr algn="l">
              <a:lnSpc>
                <a:spcPct val="107000"/>
              </a:lnSpc>
              <a:spcBef>
                <a:spcPts val="0"/>
              </a:spcBef>
              <a:spcAft>
                <a:spcPts val="300"/>
              </a:spcAft>
            </a:pPr>
            <a:r>
              <a:rPr sz="1330" b="0">
                <a:solidFill>
                  <a:srgbClr val="B8CDD8"/>
                </a:solidFill>
                <a:latin typeface="Arial"/>
              </a:rPr>
              <a:t>Students • faculty • examinations</a:t>
            </a:r>
          </a:p>
        </p:txBody>
      </p:sp>
      <p:cxnSp>
        <p:nvCxnSpPr>
          <p:cNvPr id="20" name="Connector 19"/>
          <p:cNvCxnSpPr/>
          <p:nvPr/>
        </p:nvCxnSpPr>
        <p:spPr>
          <a:xfrm>
            <a:off x="7616952" y="3035808"/>
            <a:ext cx="0" cy="374904"/>
          </a:xfrm>
          <a:prstGeom prst="line">
            <a:avLst/>
          </a:prstGeom>
          <a:ln w="17780">
            <a:solidFill>
              <a:srgbClr val="77CFB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415783" y="3520440"/>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3538728"/>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02</a:t>
            </a:r>
          </a:p>
        </p:txBody>
      </p:sp>
      <p:sp>
        <p:nvSpPr>
          <p:cNvPr id="23" name="TextBox 22"/>
          <p:cNvSpPr txBox="1"/>
          <p:nvPr/>
        </p:nvSpPr>
        <p:spPr>
          <a:xfrm>
            <a:off x="8019288" y="3465576"/>
            <a:ext cx="3200400" cy="283464"/>
          </a:xfrm>
          <a:prstGeom prst="rect">
            <a:avLst/>
          </a:prstGeom>
          <a:noFill/>
        </p:spPr>
        <p:txBody>
          <a:bodyPr wrap="square" lIns="0" rIns="0" tIns="0" bIns="0" anchor="t">
            <a:spAutoFit/>
          </a:bodyPr>
          <a:lstStyle/>
          <a:p>
            <a:pPr algn="l">
              <a:lnSpc>
                <a:spcPct val="107000"/>
              </a:lnSpc>
              <a:spcBef>
                <a:spcPts val="0"/>
              </a:spcBef>
              <a:spcAft>
                <a:spcPts val="300"/>
              </a:spcAft>
            </a:pPr>
            <a:r>
              <a:rPr sz="1600" b="1">
                <a:solidFill>
                  <a:srgbClr val="FFFFFF"/>
                </a:solidFill>
                <a:latin typeface="Arial"/>
              </a:rPr>
              <a:t>TEACHING HOSPITAL</a:t>
            </a:r>
          </a:p>
        </p:txBody>
      </p:sp>
      <p:sp>
        <p:nvSpPr>
          <p:cNvPr id="24" name="TextBox 23"/>
          <p:cNvSpPr txBox="1"/>
          <p:nvPr/>
        </p:nvSpPr>
        <p:spPr>
          <a:xfrm>
            <a:off x="8019288" y="3813048"/>
            <a:ext cx="3154680" cy="365760"/>
          </a:xfrm>
          <a:prstGeom prst="rect">
            <a:avLst/>
          </a:prstGeom>
          <a:noFill/>
        </p:spPr>
        <p:txBody>
          <a:bodyPr wrap="square" lIns="0" rIns="0" tIns="0" bIns="0" anchor="t">
            <a:spAutoFit/>
          </a:bodyPr>
          <a:lstStyle/>
          <a:p>
            <a:pPr algn="l">
              <a:lnSpc>
                <a:spcPct val="107000"/>
              </a:lnSpc>
              <a:spcBef>
                <a:spcPts val="0"/>
              </a:spcBef>
              <a:spcAft>
                <a:spcPts val="300"/>
              </a:spcAft>
            </a:pPr>
            <a:r>
              <a:rPr sz="1330" b="0">
                <a:solidFill>
                  <a:srgbClr val="B8CDD8"/>
                </a:solidFill>
                <a:latin typeface="Arial"/>
              </a:rPr>
              <a:t>Patients • clinical training • pharmacy</a:t>
            </a:r>
          </a:p>
        </p:txBody>
      </p:sp>
      <p:cxnSp>
        <p:nvCxnSpPr>
          <p:cNvPr id="25" name="Connector 24"/>
          <p:cNvCxnSpPr/>
          <p:nvPr/>
        </p:nvCxnSpPr>
        <p:spPr>
          <a:xfrm>
            <a:off x="7616952" y="3950208"/>
            <a:ext cx="0" cy="374904"/>
          </a:xfrm>
          <a:prstGeom prst="line">
            <a:avLst/>
          </a:prstGeom>
          <a:ln w="17780">
            <a:solidFill>
              <a:srgbClr val="77CFB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415783" y="4434840"/>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15783" y="4453127"/>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03</a:t>
            </a:r>
          </a:p>
        </p:txBody>
      </p:sp>
      <p:sp>
        <p:nvSpPr>
          <p:cNvPr id="28" name="TextBox 27"/>
          <p:cNvSpPr txBox="1"/>
          <p:nvPr/>
        </p:nvSpPr>
        <p:spPr>
          <a:xfrm>
            <a:off x="8019288" y="4379976"/>
            <a:ext cx="3200400" cy="283464"/>
          </a:xfrm>
          <a:prstGeom prst="rect">
            <a:avLst/>
          </a:prstGeom>
          <a:noFill/>
        </p:spPr>
        <p:txBody>
          <a:bodyPr wrap="square" lIns="0" rIns="0" tIns="0" bIns="0" anchor="t">
            <a:spAutoFit/>
          </a:bodyPr>
          <a:lstStyle/>
          <a:p>
            <a:pPr algn="l">
              <a:lnSpc>
                <a:spcPct val="107000"/>
              </a:lnSpc>
              <a:spcBef>
                <a:spcPts val="0"/>
              </a:spcBef>
              <a:spcAft>
                <a:spcPts val="300"/>
              </a:spcAft>
            </a:pPr>
            <a:r>
              <a:rPr sz="1600" b="1">
                <a:solidFill>
                  <a:srgbClr val="FFFFFF"/>
                </a:solidFill>
                <a:latin typeface="Arial"/>
              </a:rPr>
              <a:t>COLLEGE OPERATIONS</a:t>
            </a:r>
          </a:p>
        </p:txBody>
      </p:sp>
      <p:sp>
        <p:nvSpPr>
          <p:cNvPr id="29" name="TextBox 28"/>
          <p:cNvSpPr txBox="1"/>
          <p:nvPr/>
        </p:nvSpPr>
        <p:spPr>
          <a:xfrm>
            <a:off x="8019288" y="4727448"/>
            <a:ext cx="3154680" cy="365760"/>
          </a:xfrm>
          <a:prstGeom prst="rect">
            <a:avLst/>
          </a:prstGeom>
          <a:noFill/>
        </p:spPr>
        <p:txBody>
          <a:bodyPr wrap="square" lIns="0" rIns="0" tIns="0" bIns="0" anchor="t">
            <a:spAutoFit/>
          </a:bodyPr>
          <a:lstStyle/>
          <a:p>
            <a:pPr algn="l">
              <a:lnSpc>
                <a:spcPct val="107000"/>
              </a:lnSpc>
              <a:spcBef>
                <a:spcPts val="0"/>
              </a:spcBef>
              <a:spcAft>
                <a:spcPts val="300"/>
              </a:spcAft>
            </a:pPr>
            <a:r>
              <a:rPr sz="1330" b="0">
                <a:solidFill>
                  <a:srgbClr val="B8CDD8"/>
                </a:solidFill>
                <a:latin typeface="Arial"/>
              </a:rPr>
              <a:t>Finance • people • campus services</a:t>
            </a:r>
          </a:p>
        </p:txBody>
      </p:sp>
      <p:sp>
        <p:nvSpPr>
          <p:cNvPr id="30" name="Rounded Rectangle 29"/>
          <p:cNvSpPr/>
          <p:nvPr/>
        </p:nvSpPr>
        <p:spPr>
          <a:xfrm>
            <a:off x="7406640" y="5522976"/>
            <a:ext cx="3913632" cy="310896"/>
          </a:xfrm>
          <a:prstGeom prst="roundRect">
            <a:avLst>
              <a:gd name="adj" fmla="val 10000"/>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61504" y="5577840"/>
            <a:ext cx="3803904" cy="219456"/>
          </a:xfrm>
          <a:prstGeom prst="rect">
            <a:avLst/>
          </a:prstGeom>
          <a:noFill/>
        </p:spPr>
        <p:txBody>
          <a:bodyPr wrap="square" lIns="0" rIns="0" tIns="0" bIns="0" anchor="t">
            <a:spAutoFit/>
          </a:bodyPr>
          <a:lstStyle/>
          <a:p>
            <a:pPr algn="ctr">
              <a:lnSpc>
                <a:spcPct val="107000"/>
              </a:lnSpc>
              <a:spcBef>
                <a:spcPts val="0"/>
              </a:spcBef>
              <a:spcAft>
                <a:spcPts val="300"/>
              </a:spcAft>
            </a:pPr>
            <a:r>
              <a:rPr sz="1200" b="1">
                <a:solidFill>
                  <a:srgbClr val="FFFFFF"/>
                </a:solidFill>
                <a:latin typeface="Arial"/>
              </a:rPr>
              <a:t>Visibility  •  Accountability  •  Better service</a:t>
            </a:r>
          </a:p>
        </p:txBody>
      </p:sp>
      <p:sp>
        <p:nvSpPr>
          <p:cNvPr id="32" name="TextBox 31"/>
          <p:cNvSpPr txBox="1"/>
          <p:nvPr/>
        </p:nvSpPr>
        <p:spPr>
          <a:xfrm>
            <a:off x="621792" y="6510528"/>
            <a:ext cx="7315200" cy="210312"/>
          </a:xfrm>
          <a:prstGeom prst="rect">
            <a:avLst/>
          </a:prstGeom>
          <a:noFill/>
        </p:spPr>
        <p:txBody>
          <a:bodyPr wrap="square" lIns="0" rIns="0" tIns="0" bIns="0" anchor="t">
            <a:spAutoFit/>
          </a:bodyPr>
          <a:lstStyle/>
          <a:p>
            <a:pPr algn="l">
              <a:lnSpc>
                <a:spcPct val="107000"/>
              </a:lnSpc>
              <a:spcBef>
                <a:spcPts val="0"/>
              </a:spcBef>
              <a:spcAft>
                <a:spcPts val="300"/>
              </a:spcAft>
            </a:pPr>
            <a:r>
              <a:rPr sz="1000" b="0">
                <a:solidFill>
                  <a:srgbClr val="B8CDD8"/>
                </a:solidFill>
                <a:latin typeface="Arial"/>
              </a:rPr>
              <a:t>support@pmrgsolution.com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6F9FA"/>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mrg_logo.png"/>
          <p:cNvPicPr>
            <a:picLocks noChangeAspect="1"/>
          </p:cNvPicPr>
          <p:nvPr/>
        </p:nvPicPr>
        <p:blipFill>
          <a:blip r:embed="rId2"/>
          <a:stretch>
            <a:fillRect/>
          </a:stretch>
        </p:blipFill>
        <p:spPr>
          <a:xfrm>
            <a:off x="10168128" y="320040"/>
            <a:ext cx="1408176" cy="625703"/>
          </a:xfrm>
          <a:prstGeom prst="rect">
            <a:avLst/>
          </a:prstGeom>
        </p:spPr>
      </p:pic>
      <p:sp>
        <p:nvSpPr>
          <p:cNvPr id="4" name="TextBox 3"/>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THE COLLEGE OPPORTUNITY</a:t>
            </a:r>
          </a:p>
        </p:txBody>
      </p:sp>
      <p:sp>
        <p:nvSpPr>
          <p:cNvPr id="5" name="TextBox 4"/>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0B2438"/>
                </a:solidFill>
                <a:latin typeface="Arial"/>
              </a:rPr>
              <a:t>Solve the gaps between departments</a:t>
            </a:r>
          </a:p>
        </p:txBody>
      </p:sp>
      <p:sp>
        <p:nvSpPr>
          <p:cNvPr id="6" name="TextBox 5"/>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Discovery focus: where disconnected records create repeated work, delayed decisions and poor service.</a:t>
            </a:r>
          </a:p>
        </p:txBody>
      </p:sp>
      <p:cxnSp>
        <p:nvCxnSpPr>
          <p:cNvPr id="7" name="Connector 6"/>
          <p:cNvCxnSpPr/>
          <p:nvPr/>
        </p:nvCxnSpPr>
        <p:spPr>
          <a:xfrm>
            <a:off x="585216" y="6400800"/>
            <a:ext cx="11009376" cy="0"/>
          </a:xfrm>
          <a:prstGeom prst="line">
            <a:avLst/>
          </a:prstGeom>
          <a:ln w="10160">
            <a:solidFill>
              <a:srgbClr val="D5E1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557080"/>
                </a:solidFill>
                <a:latin typeface="Arial"/>
              </a:rPr>
              <a:t>PMRG SOLUTION LLP  |  AYURVEDA COLLEGE ERP</a:t>
            </a:r>
          </a:p>
        </p:txBody>
      </p:sp>
      <p:sp>
        <p:nvSpPr>
          <p:cNvPr id="9" name="TextBox 8"/>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557080"/>
                </a:solidFill>
                <a:latin typeface="Arial"/>
              </a:rPr>
              <a:t>02 / 11</a:t>
            </a:r>
          </a:p>
        </p:txBody>
      </p:sp>
      <p:sp>
        <p:nvSpPr>
          <p:cNvPr id="10" name="Rectangle 9"/>
          <p:cNvSpPr/>
          <p:nvPr/>
        </p:nvSpPr>
        <p:spPr>
          <a:xfrm>
            <a:off x="612648" y="2240280"/>
            <a:ext cx="2523744" cy="429768"/>
          </a:xfrm>
          <a:prstGeom prst="rect">
            <a:avLst/>
          </a:prstGeom>
          <a:solidFill>
            <a:srgbClr val="0B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350008"/>
            <a:ext cx="2231136" cy="228600"/>
          </a:xfrm>
          <a:prstGeom prst="rect">
            <a:avLst/>
          </a:prstGeom>
          <a:noFill/>
        </p:spPr>
        <p:txBody>
          <a:bodyPr wrap="square" lIns="0" rIns="0" tIns="0" bIns="0" anchor="t">
            <a:spAutoFit/>
          </a:bodyPr>
          <a:lstStyle/>
          <a:p>
            <a:pPr algn="l">
              <a:lnSpc>
                <a:spcPct val="107000"/>
              </a:lnSpc>
              <a:spcBef>
                <a:spcPts val="0"/>
              </a:spcBef>
              <a:spcAft>
                <a:spcPts val="300"/>
              </a:spcAft>
            </a:pPr>
            <a:r>
              <a:rPr sz="1200" b="1">
                <a:solidFill>
                  <a:srgbClr val="FFFFFF"/>
                </a:solidFill>
                <a:latin typeface="Arial"/>
              </a:rPr>
              <a:t>DAILY CHALLENGE</a:t>
            </a:r>
          </a:p>
        </p:txBody>
      </p:sp>
      <p:sp>
        <p:nvSpPr>
          <p:cNvPr id="12" name="Rectangle 11"/>
          <p:cNvSpPr/>
          <p:nvPr/>
        </p:nvSpPr>
        <p:spPr>
          <a:xfrm>
            <a:off x="3136392" y="2240280"/>
            <a:ext cx="4928616" cy="429768"/>
          </a:xfrm>
          <a:prstGeom prst="rect">
            <a:avLst/>
          </a:prstGeom>
          <a:solidFill>
            <a:srgbClr val="0B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82696" y="2350008"/>
            <a:ext cx="4636007" cy="228600"/>
          </a:xfrm>
          <a:prstGeom prst="rect">
            <a:avLst/>
          </a:prstGeom>
          <a:noFill/>
        </p:spPr>
        <p:txBody>
          <a:bodyPr wrap="square" lIns="0" rIns="0" tIns="0" bIns="0" anchor="t">
            <a:spAutoFit/>
          </a:bodyPr>
          <a:lstStyle/>
          <a:p>
            <a:pPr algn="l">
              <a:lnSpc>
                <a:spcPct val="107000"/>
              </a:lnSpc>
              <a:spcBef>
                <a:spcPts val="0"/>
              </a:spcBef>
              <a:spcAft>
                <a:spcPts val="300"/>
              </a:spcAft>
            </a:pPr>
            <a:r>
              <a:rPr sz="1200" b="1">
                <a:solidFill>
                  <a:srgbClr val="FFFFFF"/>
                </a:solidFill>
                <a:latin typeface="Arial"/>
              </a:rPr>
              <a:t>PMRG SOLUTION APPROACH</a:t>
            </a:r>
          </a:p>
        </p:txBody>
      </p:sp>
      <p:sp>
        <p:nvSpPr>
          <p:cNvPr id="14" name="Rectangle 13"/>
          <p:cNvSpPr/>
          <p:nvPr/>
        </p:nvSpPr>
        <p:spPr>
          <a:xfrm>
            <a:off x="8065008" y="2240280"/>
            <a:ext cx="3493008" cy="429768"/>
          </a:xfrm>
          <a:prstGeom prst="rect">
            <a:avLst/>
          </a:prstGeom>
          <a:solidFill>
            <a:srgbClr val="0B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350008"/>
            <a:ext cx="3200400" cy="228600"/>
          </a:xfrm>
          <a:prstGeom prst="rect">
            <a:avLst/>
          </a:prstGeom>
          <a:noFill/>
        </p:spPr>
        <p:txBody>
          <a:bodyPr wrap="square" lIns="0" rIns="0" tIns="0" bIns="0" anchor="t">
            <a:spAutoFit/>
          </a:bodyPr>
          <a:lstStyle/>
          <a:p>
            <a:pPr algn="l">
              <a:lnSpc>
                <a:spcPct val="107000"/>
              </a:lnSpc>
              <a:spcBef>
                <a:spcPts val="0"/>
              </a:spcBef>
              <a:spcAft>
                <a:spcPts val="300"/>
              </a:spcAft>
            </a:pPr>
            <a:r>
              <a:rPr sz="1200" b="1">
                <a:solidFill>
                  <a:srgbClr val="FFFFFF"/>
                </a:solidFill>
                <a:latin typeface="Arial"/>
              </a:rPr>
              <a:t>EXPECTED VALUE</a:t>
            </a:r>
          </a:p>
        </p:txBody>
      </p:sp>
      <p:sp>
        <p:nvSpPr>
          <p:cNvPr id="16" name="Rectangle 15"/>
          <p:cNvSpPr/>
          <p:nvPr/>
        </p:nvSpPr>
        <p:spPr>
          <a:xfrm>
            <a:off x="612648" y="2670048"/>
            <a:ext cx="2523744"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36392" y="2670048"/>
            <a:ext cx="4928616"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670048"/>
            <a:ext cx="3493008"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2761488"/>
            <a:ext cx="2249424" cy="274320"/>
          </a:xfrm>
          <a:prstGeom prst="rect">
            <a:avLst/>
          </a:prstGeom>
          <a:noFill/>
        </p:spPr>
        <p:txBody>
          <a:bodyPr wrap="square" lIns="0" rIns="0" tIns="0" bIns="0" anchor="t">
            <a:spAutoFit/>
          </a:bodyPr>
          <a:lstStyle/>
          <a:p>
            <a:pPr algn="l">
              <a:lnSpc>
                <a:spcPct val="107000"/>
              </a:lnSpc>
              <a:spcBef>
                <a:spcPts val="0"/>
              </a:spcBef>
              <a:spcAft>
                <a:spcPts val="300"/>
              </a:spcAft>
            </a:pPr>
            <a:r>
              <a:rPr sz="1500" b="1">
                <a:solidFill>
                  <a:srgbClr val="067F76"/>
                </a:solidFill>
                <a:latin typeface="Arial"/>
              </a:rPr>
              <a:t>Admissions &amp; fees</a:t>
            </a:r>
          </a:p>
        </p:txBody>
      </p:sp>
      <p:sp>
        <p:nvSpPr>
          <p:cNvPr id="20" name="TextBox 19"/>
          <p:cNvSpPr txBox="1"/>
          <p:nvPr/>
        </p:nvSpPr>
        <p:spPr>
          <a:xfrm>
            <a:off x="758952" y="3017520"/>
            <a:ext cx="2249424" cy="374904"/>
          </a:xfrm>
          <a:prstGeom prst="rect">
            <a:avLst/>
          </a:prstGeom>
          <a:noFill/>
        </p:spPr>
        <p:txBody>
          <a:bodyPr wrap="square" lIns="0" rIns="0" tIns="0" bIns="0" anchor="t">
            <a:spAutoFit/>
          </a:bodyPr>
          <a:lstStyle/>
          <a:p>
            <a:pPr algn="l">
              <a:lnSpc>
                <a:spcPct val="107000"/>
              </a:lnSpc>
              <a:spcBef>
                <a:spcPts val="0"/>
              </a:spcBef>
              <a:spcAft>
                <a:spcPts val="300"/>
              </a:spcAft>
            </a:pPr>
            <a:r>
              <a:rPr sz="1150" b="0">
                <a:solidFill>
                  <a:srgbClr val="557080"/>
                </a:solidFill>
                <a:latin typeface="Arial"/>
              </a:rPr>
              <a:t>Disconnected forms, fee records and follow-ups</a:t>
            </a:r>
          </a:p>
        </p:txBody>
      </p:sp>
      <p:sp>
        <p:nvSpPr>
          <p:cNvPr id="21" name="TextBox 20"/>
          <p:cNvSpPr txBox="1"/>
          <p:nvPr/>
        </p:nvSpPr>
        <p:spPr>
          <a:xfrm>
            <a:off x="3282696" y="2779776"/>
            <a:ext cx="4636007" cy="603504"/>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Link application, enrolment, fee schedules,</a:t>
            </a:r>
          </a:p>
          <a:p>
            <a:pPr algn="l">
              <a:lnSpc>
                <a:spcPct val="107000"/>
              </a:lnSpc>
              <a:spcBef>
                <a:spcPts val="0"/>
              </a:spcBef>
              <a:spcAft>
                <a:spcPts val="300"/>
              </a:spcAft>
            </a:pPr>
            <a:r>
              <a:rPr sz="1600" b="0">
                <a:solidFill>
                  <a:srgbClr val="19364A"/>
                </a:solidFill>
                <a:latin typeface="Arial"/>
              </a:rPr>
              <a:t>receipts and student self-service.</a:t>
            </a:r>
          </a:p>
        </p:txBody>
      </p:sp>
      <p:sp>
        <p:nvSpPr>
          <p:cNvPr id="22" name="TextBox 21"/>
          <p:cNvSpPr txBox="1"/>
          <p:nvPr/>
        </p:nvSpPr>
        <p:spPr>
          <a:xfrm>
            <a:off x="8211312" y="2779776"/>
            <a:ext cx="3200400" cy="603504"/>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Quicker service; clearer</a:t>
            </a:r>
          </a:p>
          <a:p>
            <a:pPr algn="l">
              <a:lnSpc>
                <a:spcPct val="107000"/>
              </a:lnSpc>
              <a:spcBef>
                <a:spcPts val="0"/>
              </a:spcBef>
              <a:spcAft>
                <a:spcPts val="300"/>
              </a:spcAft>
            </a:pPr>
            <a:r>
              <a:rPr sz="1600" b="0">
                <a:solidFill>
                  <a:srgbClr val="19364A"/>
                </a:solidFill>
                <a:latin typeface="Arial"/>
              </a:rPr>
              <a:t>collection status.</a:t>
            </a:r>
          </a:p>
        </p:txBody>
      </p:sp>
      <p:sp>
        <p:nvSpPr>
          <p:cNvPr id="23" name="Rectangle 22"/>
          <p:cNvSpPr/>
          <p:nvPr/>
        </p:nvSpPr>
        <p:spPr>
          <a:xfrm>
            <a:off x="612648" y="3401568"/>
            <a:ext cx="2523744" cy="731520"/>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36392" y="3401568"/>
            <a:ext cx="4928616" cy="731520"/>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65008" y="3401568"/>
            <a:ext cx="3493008" cy="731520"/>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493008"/>
            <a:ext cx="2249424" cy="274320"/>
          </a:xfrm>
          <a:prstGeom prst="rect">
            <a:avLst/>
          </a:prstGeom>
          <a:noFill/>
        </p:spPr>
        <p:txBody>
          <a:bodyPr wrap="square" lIns="0" rIns="0" tIns="0" bIns="0" anchor="t">
            <a:spAutoFit/>
          </a:bodyPr>
          <a:lstStyle/>
          <a:p>
            <a:pPr algn="l">
              <a:lnSpc>
                <a:spcPct val="107000"/>
              </a:lnSpc>
              <a:spcBef>
                <a:spcPts val="0"/>
              </a:spcBef>
              <a:spcAft>
                <a:spcPts val="300"/>
              </a:spcAft>
            </a:pPr>
            <a:r>
              <a:rPr sz="1500" b="1">
                <a:solidFill>
                  <a:srgbClr val="067F76"/>
                </a:solidFill>
                <a:latin typeface="Arial"/>
              </a:rPr>
              <a:t>Academics &amp; training</a:t>
            </a:r>
          </a:p>
        </p:txBody>
      </p:sp>
      <p:sp>
        <p:nvSpPr>
          <p:cNvPr id="27" name="TextBox 26"/>
          <p:cNvSpPr txBox="1"/>
          <p:nvPr/>
        </p:nvSpPr>
        <p:spPr>
          <a:xfrm>
            <a:off x="758952" y="3749039"/>
            <a:ext cx="2249424" cy="374904"/>
          </a:xfrm>
          <a:prstGeom prst="rect">
            <a:avLst/>
          </a:prstGeom>
          <a:noFill/>
        </p:spPr>
        <p:txBody>
          <a:bodyPr wrap="square" lIns="0" rIns="0" tIns="0" bIns="0" anchor="t">
            <a:spAutoFit/>
          </a:bodyPr>
          <a:lstStyle/>
          <a:p>
            <a:pPr algn="l">
              <a:lnSpc>
                <a:spcPct val="107000"/>
              </a:lnSpc>
              <a:spcBef>
                <a:spcPts val="0"/>
              </a:spcBef>
              <a:spcAft>
                <a:spcPts val="300"/>
              </a:spcAft>
            </a:pPr>
            <a:r>
              <a:rPr sz="1150" b="0">
                <a:solidFill>
                  <a:srgbClr val="557080"/>
                </a:solidFill>
                <a:latin typeface="Arial"/>
              </a:rPr>
              <a:t>Attendance, assessments and logbooks in silos</a:t>
            </a:r>
          </a:p>
        </p:txBody>
      </p:sp>
      <p:sp>
        <p:nvSpPr>
          <p:cNvPr id="28" name="TextBox 27"/>
          <p:cNvSpPr txBox="1"/>
          <p:nvPr/>
        </p:nvSpPr>
        <p:spPr>
          <a:xfrm>
            <a:off x="3282696" y="3511296"/>
            <a:ext cx="4636007" cy="603504"/>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Connect schedules and results with</a:t>
            </a:r>
          </a:p>
          <a:p>
            <a:pPr algn="l">
              <a:lnSpc>
                <a:spcPct val="107000"/>
              </a:lnSpc>
              <a:spcBef>
                <a:spcPts val="0"/>
              </a:spcBef>
              <a:spcAft>
                <a:spcPts val="300"/>
              </a:spcAft>
            </a:pPr>
            <a:r>
              <a:rPr sz="1600" b="0">
                <a:solidFill>
                  <a:srgbClr val="19364A"/>
                </a:solidFill>
                <a:latin typeface="Arial"/>
              </a:rPr>
              <a:t>supervised clinical postings and logbooks.</a:t>
            </a:r>
          </a:p>
        </p:txBody>
      </p:sp>
      <p:sp>
        <p:nvSpPr>
          <p:cNvPr id="29" name="TextBox 28"/>
          <p:cNvSpPr txBox="1"/>
          <p:nvPr/>
        </p:nvSpPr>
        <p:spPr>
          <a:xfrm>
            <a:off x="8211312" y="3511296"/>
            <a:ext cx="3200400" cy="603504"/>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Better academic visibility;</a:t>
            </a:r>
          </a:p>
          <a:p>
            <a:pPr algn="l">
              <a:lnSpc>
                <a:spcPct val="107000"/>
              </a:lnSpc>
              <a:spcBef>
                <a:spcPts val="0"/>
              </a:spcBef>
              <a:spcAft>
                <a:spcPts val="300"/>
              </a:spcAft>
            </a:pPr>
            <a:r>
              <a:rPr sz="1600" b="0">
                <a:solidFill>
                  <a:srgbClr val="19364A"/>
                </a:solidFill>
                <a:latin typeface="Arial"/>
              </a:rPr>
              <a:t>less record chasing.</a:t>
            </a:r>
          </a:p>
        </p:txBody>
      </p:sp>
      <p:sp>
        <p:nvSpPr>
          <p:cNvPr id="30" name="Rectangle 29"/>
          <p:cNvSpPr/>
          <p:nvPr/>
        </p:nvSpPr>
        <p:spPr>
          <a:xfrm>
            <a:off x="612648" y="4133087"/>
            <a:ext cx="2523744"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36392" y="4133087"/>
            <a:ext cx="4928616"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65008" y="4133087"/>
            <a:ext cx="3493008"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 y="4224527"/>
            <a:ext cx="2249424" cy="274320"/>
          </a:xfrm>
          <a:prstGeom prst="rect">
            <a:avLst/>
          </a:prstGeom>
          <a:noFill/>
        </p:spPr>
        <p:txBody>
          <a:bodyPr wrap="square" lIns="0" rIns="0" tIns="0" bIns="0" anchor="t">
            <a:spAutoFit/>
          </a:bodyPr>
          <a:lstStyle/>
          <a:p>
            <a:pPr algn="l">
              <a:lnSpc>
                <a:spcPct val="107000"/>
              </a:lnSpc>
              <a:spcBef>
                <a:spcPts val="0"/>
              </a:spcBef>
              <a:spcAft>
                <a:spcPts val="300"/>
              </a:spcAft>
            </a:pPr>
            <a:r>
              <a:rPr sz="1500" b="1">
                <a:solidFill>
                  <a:srgbClr val="067F76"/>
                </a:solidFill>
                <a:latin typeface="Arial"/>
              </a:rPr>
              <a:t>Hospital &amp; pharmacy</a:t>
            </a:r>
          </a:p>
        </p:txBody>
      </p:sp>
      <p:sp>
        <p:nvSpPr>
          <p:cNvPr id="34" name="TextBox 33"/>
          <p:cNvSpPr txBox="1"/>
          <p:nvPr/>
        </p:nvSpPr>
        <p:spPr>
          <a:xfrm>
            <a:off x="758952" y="4480559"/>
            <a:ext cx="2249424" cy="374904"/>
          </a:xfrm>
          <a:prstGeom prst="rect">
            <a:avLst/>
          </a:prstGeom>
          <a:noFill/>
        </p:spPr>
        <p:txBody>
          <a:bodyPr wrap="square" lIns="0" rIns="0" tIns="0" bIns="0" anchor="t">
            <a:spAutoFit/>
          </a:bodyPr>
          <a:lstStyle/>
          <a:p>
            <a:pPr algn="l">
              <a:lnSpc>
                <a:spcPct val="107000"/>
              </a:lnSpc>
              <a:spcBef>
                <a:spcPts val="0"/>
              </a:spcBef>
              <a:spcAft>
                <a:spcPts val="300"/>
              </a:spcAft>
            </a:pPr>
            <a:r>
              <a:rPr sz="1150" b="0">
                <a:solidFill>
                  <a:srgbClr val="557080"/>
                </a:solidFill>
                <a:latin typeface="Arial"/>
              </a:rPr>
              <a:t>Separate patient, treatment and stock records</a:t>
            </a:r>
          </a:p>
        </p:txBody>
      </p:sp>
      <p:sp>
        <p:nvSpPr>
          <p:cNvPr id="35" name="TextBox 34"/>
          <p:cNvSpPr txBox="1"/>
          <p:nvPr/>
        </p:nvSpPr>
        <p:spPr>
          <a:xfrm>
            <a:off x="3282696" y="4242816"/>
            <a:ext cx="4636007" cy="603504"/>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Connect OPD/IPD, prescribed services,</a:t>
            </a:r>
          </a:p>
          <a:p>
            <a:pPr algn="l">
              <a:lnSpc>
                <a:spcPct val="107000"/>
              </a:lnSpc>
              <a:spcBef>
                <a:spcPts val="0"/>
              </a:spcBef>
              <a:spcAft>
                <a:spcPts val="300"/>
              </a:spcAft>
            </a:pPr>
            <a:r>
              <a:rPr sz="1600" b="0">
                <a:solidFill>
                  <a:srgbClr val="19364A"/>
                </a:solidFill>
                <a:latin typeface="Arial"/>
              </a:rPr>
              <a:t>dispensing, stock movement and billing.</a:t>
            </a:r>
          </a:p>
        </p:txBody>
      </p:sp>
      <p:sp>
        <p:nvSpPr>
          <p:cNvPr id="36" name="TextBox 35"/>
          <p:cNvSpPr txBox="1"/>
          <p:nvPr/>
        </p:nvSpPr>
        <p:spPr>
          <a:xfrm>
            <a:off x="8211312" y="4242816"/>
            <a:ext cx="3200400" cy="603504"/>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Coordinated care workflows;</a:t>
            </a:r>
          </a:p>
          <a:p>
            <a:pPr algn="l">
              <a:lnSpc>
                <a:spcPct val="107000"/>
              </a:lnSpc>
              <a:spcBef>
                <a:spcPts val="0"/>
              </a:spcBef>
              <a:spcAft>
                <a:spcPts val="300"/>
              </a:spcAft>
            </a:pPr>
            <a:r>
              <a:rPr sz="1600" b="0">
                <a:solidFill>
                  <a:srgbClr val="19364A"/>
                </a:solidFill>
                <a:latin typeface="Arial"/>
              </a:rPr>
              <a:t>stronger traceability.</a:t>
            </a:r>
          </a:p>
        </p:txBody>
      </p:sp>
      <p:sp>
        <p:nvSpPr>
          <p:cNvPr id="37" name="Rectangle 36"/>
          <p:cNvSpPr/>
          <p:nvPr/>
        </p:nvSpPr>
        <p:spPr>
          <a:xfrm>
            <a:off x="612648" y="4864608"/>
            <a:ext cx="2523744" cy="731520"/>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36392" y="4864608"/>
            <a:ext cx="4928616" cy="731520"/>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65008" y="4864608"/>
            <a:ext cx="3493008" cy="731520"/>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 y="4956048"/>
            <a:ext cx="2249424" cy="274320"/>
          </a:xfrm>
          <a:prstGeom prst="rect">
            <a:avLst/>
          </a:prstGeom>
          <a:noFill/>
        </p:spPr>
        <p:txBody>
          <a:bodyPr wrap="square" lIns="0" rIns="0" tIns="0" bIns="0" anchor="t">
            <a:spAutoFit/>
          </a:bodyPr>
          <a:lstStyle/>
          <a:p>
            <a:pPr algn="l">
              <a:lnSpc>
                <a:spcPct val="107000"/>
              </a:lnSpc>
              <a:spcBef>
                <a:spcPts val="0"/>
              </a:spcBef>
              <a:spcAft>
                <a:spcPts val="300"/>
              </a:spcAft>
            </a:pPr>
            <a:r>
              <a:rPr sz="1500" b="1">
                <a:solidFill>
                  <a:srgbClr val="067F76"/>
                </a:solidFill>
                <a:latin typeface="Arial"/>
              </a:rPr>
              <a:t>Management &amp; reviews</a:t>
            </a:r>
          </a:p>
        </p:txBody>
      </p:sp>
      <p:sp>
        <p:nvSpPr>
          <p:cNvPr id="41" name="TextBox 40"/>
          <p:cNvSpPr txBox="1"/>
          <p:nvPr/>
        </p:nvSpPr>
        <p:spPr>
          <a:xfrm>
            <a:off x="758952" y="5212080"/>
            <a:ext cx="2249424" cy="374904"/>
          </a:xfrm>
          <a:prstGeom prst="rect">
            <a:avLst/>
          </a:prstGeom>
          <a:noFill/>
        </p:spPr>
        <p:txBody>
          <a:bodyPr wrap="square" lIns="0" rIns="0" tIns="0" bIns="0" anchor="t">
            <a:spAutoFit/>
          </a:bodyPr>
          <a:lstStyle/>
          <a:p>
            <a:pPr algn="l">
              <a:lnSpc>
                <a:spcPct val="107000"/>
              </a:lnSpc>
              <a:spcBef>
                <a:spcPts val="0"/>
              </a:spcBef>
              <a:spcAft>
                <a:spcPts val="300"/>
              </a:spcAft>
            </a:pPr>
            <a:r>
              <a:rPr sz="1150" b="0">
                <a:solidFill>
                  <a:srgbClr val="557080"/>
                </a:solidFill>
                <a:latin typeface="Arial"/>
              </a:rPr>
              <a:t>Reports assembled manually across teams</a:t>
            </a:r>
          </a:p>
        </p:txBody>
      </p:sp>
      <p:sp>
        <p:nvSpPr>
          <p:cNvPr id="42" name="TextBox 41"/>
          <p:cNvSpPr txBox="1"/>
          <p:nvPr/>
        </p:nvSpPr>
        <p:spPr>
          <a:xfrm>
            <a:off x="3282696" y="4974336"/>
            <a:ext cx="4636007" cy="603504"/>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Combine financial and operational views</a:t>
            </a:r>
          </a:p>
          <a:p>
            <a:pPr algn="l">
              <a:lnSpc>
                <a:spcPct val="107000"/>
              </a:lnSpc>
              <a:spcBef>
                <a:spcPts val="0"/>
              </a:spcBef>
              <a:spcAft>
                <a:spcPts val="300"/>
              </a:spcAft>
            </a:pPr>
            <a:r>
              <a:rPr sz="1600" b="0">
                <a:solidFill>
                  <a:srgbClr val="19364A"/>
                </a:solidFill>
                <a:latin typeface="Arial"/>
              </a:rPr>
              <a:t>with an indexed evidence repository.</a:t>
            </a:r>
          </a:p>
        </p:txBody>
      </p:sp>
      <p:sp>
        <p:nvSpPr>
          <p:cNvPr id="43" name="TextBox 42"/>
          <p:cNvSpPr txBox="1"/>
          <p:nvPr/>
        </p:nvSpPr>
        <p:spPr>
          <a:xfrm>
            <a:off x="8211312" y="4974336"/>
            <a:ext cx="3200400" cy="603504"/>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Faster reviews; clearer</a:t>
            </a:r>
          </a:p>
          <a:p>
            <a:pPr algn="l">
              <a:lnSpc>
                <a:spcPct val="107000"/>
              </a:lnSpc>
              <a:spcBef>
                <a:spcPts val="0"/>
              </a:spcBef>
              <a:spcAft>
                <a:spcPts val="300"/>
              </a:spcAft>
            </a:pPr>
            <a:r>
              <a:rPr sz="1600" b="0">
                <a:solidFill>
                  <a:srgbClr val="19364A"/>
                </a:solidFill>
                <a:latin typeface="Arial"/>
              </a:rPr>
              <a:t>ownership of exceptions.</a:t>
            </a:r>
          </a:p>
        </p:txBody>
      </p:sp>
      <p:sp>
        <p:nvSpPr>
          <p:cNvPr id="44" name="Rounded Rectangle 43"/>
          <p:cNvSpPr/>
          <p:nvPr/>
        </p:nvSpPr>
        <p:spPr>
          <a:xfrm>
            <a:off x="612648" y="5760720"/>
            <a:ext cx="10945368" cy="365760"/>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8096" y="5833872"/>
            <a:ext cx="10643616" cy="228600"/>
          </a:xfrm>
          <a:prstGeom prst="rect">
            <a:avLst/>
          </a:prstGeom>
          <a:noFill/>
        </p:spPr>
        <p:txBody>
          <a:bodyPr wrap="square" lIns="0" rIns="0" tIns="0" bIns="0" anchor="t">
            <a:spAutoFit/>
          </a:bodyPr>
          <a:lstStyle/>
          <a:p>
            <a:pPr algn="l">
              <a:lnSpc>
                <a:spcPct val="107000"/>
              </a:lnSpc>
              <a:spcBef>
                <a:spcPts val="0"/>
              </a:spcBef>
              <a:spcAft>
                <a:spcPts val="300"/>
              </a:spcAft>
            </a:pPr>
            <a:r>
              <a:rPr sz="1410" b="1">
                <a:solidFill>
                  <a:srgbClr val="067F76"/>
                </a:solidFill>
                <a:latin typeface="Arial"/>
              </a:rPr>
              <a:t>The goal: less time reconciling records, more time teaching, serving patients and running the institution.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6F9FA"/>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mrg_logo.png"/>
          <p:cNvPicPr>
            <a:picLocks noChangeAspect="1"/>
          </p:cNvPicPr>
          <p:nvPr/>
        </p:nvPicPr>
        <p:blipFill>
          <a:blip r:embed="rId2"/>
          <a:stretch>
            <a:fillRect/>
          </a:stretch>
        </p:blipFill>
        <p:spPr>
          <a:xfrm>
            <a:off x="10168128" y="320040"/>
            <a:ext cx="1408176" cy="625703"/>
          </a:xfrm>
          <a:prstGeom prst="rect">
            <a:avLst/>
          </a:prstGeom>
        </p:spPr>
      </p:pic>
      <p:sp>
        <p:nvSpPr>
          <p:cNvPr id="4" name="TextBox 3"/>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PROPOSED SOLUTION BLUEPRINT</a:t>
            </a:r>
          </a:p>
        </p:txBody>
      </p:sp>
      <p:sp>
        <p:nvSpPr>
          <p:cNvPr id="5" name="TextBox 4"/>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0B2438"/>
                </a:solidFill>
                <a:latin typeface="Arial"/>
              </a:rPr>
              <a:t>A connected platform with clear delivery scope</a:t>
            </a:r>
          </a:p>
        </p:txBody>
      </p:sp>
      <p:sp>
        <p:nvSpPr>
          <p:cNvPr id="6" name="TextBox 5"/>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Combine established ERP capabilities with education and healthcare apps, then tailor the Ayurveda workflows.</a:t>
            </a:r>
          </a:p>
        </p:txBody>
      </p:sp>
      <p:cxnSp>
        <p:nvCxnSpPr>
          <p:cNvPr id="7" name="Connector 6"/>
          <p:cNvCxnSpPr/>
          <p:nvPr/>
        </p:nvCxnSpPr>
        <p:spPr>
          <a:xfrm>
            <a:off x="585216" y="6400800"/>
            <a:ext cx="11009376" cy="0"/>
          </a:xfrm>
          <a:prstGeom prst="line">
            <a:avLst/>
          </a:prstGeom>
          <a:ln w="10160">
            <a:solidFill>
              <a:srgbClr val="D5E1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557080"/>
                </a:solidFill>
                <a:latin typeface="Arial"/>
              </a:rPr>
              <a:t>PMRG SOLUTION LLP  |  AYURVEDA COLLEGE ERP</a:t>
            </a:r>
          </a:p>
        </p:txBody>
      </p:sp>
      <p:sp>
        <p:nvSpPr>
          <p:cNvPr id="9" name="TextBox 8"/>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557080"/>
                </a:solidFill>
                <a:latin typeface="Arial"/>
              </a:rPr>
              <a:t>03 / 11</a:t>
            </a:r>
          </a:p>
        </p:txBody>
      </p:sp>
      <p:sp>
        <p:nvSpPr>
          <p:cNvPr id="10" name="Rounded Rectangle 9"/>
          <p:cNvSpPr/>
          <p:nvPr/>
        </p:nvSpPr>
        <p:spPr>
          <a:xfrm>
            <a:off x="612648" y="2267712"/>
            <a:ext cx="3511296" cy="2560320"/>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2267712"/>
            <a:ext cx="45720" cy="2560320"/>
          </a:xfrm>
          <a:prstGeom prst="rect">
            <a:avLst/>
          </a:prstGeom>
          <a:solidFill>
            <a:srgbClr val="0875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459736"/>
            <a:ext cx="3090672" cy="228600"/>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875D9"/>
                </a:solidFill>
                <a:latin typeface="Arial"/>
              </a:rPr>
              <a:t>CORE • CONFIGURE</a:t>
            </a:r>
          </a:p>
        </p:txBody>
      </p:sp>
      <p:sp>
        <p:nvSpPr>
          <p:cNvPr id="13" name="TextBox 12"/>
          <p:cNvSpPr txBox="1"/>
          <p:nvPr/>
        </p:nvSpPr>
        <p:spPr>
          <a:xfrm>
            <a:off x="822960" y="2770632"/>
            <a:ext cx="3090672" cy="548640"/>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0B2438"/>
                </a:solidFill>
                <a:latin typeface="Arial"/>
              </a:rPr>
              <a:t>ERPNext foundation</a:t>
            </a:r>
          </a:p>
        </p:txBody>
      </p:sp>
      <p:sp>
        <p:nvSpPr>
          <p:cNvPr id="14" name="TextBox 13"/>
          <p:cNvSpPr txBox="1"/>
          <p:nvPr/>
        </p:nvSpPr>
        <p:spPr>
          <a:xfrm>
            <a:off x="822960" y="3456432"/>
            <a:ext cx="3090672" cy="1261871"/>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Accounts and budgets</a:t>
            </a:r>
          </a:p>
          <a:p>
            <a:pPr algn="l">
              <a:lnSpc>
                <a:spcPct val="107000"/>
              </a:lnSpc>
              <a:spcBef>
                <a:spcPts val="0"/>
              </a:spcBef>
              <a:spcAft>
                <a:spcPts val="300"/>
              </a:spcAft>
            </a:pPr>
            <a:r>
              <a:rPr sz="1650" b="0">
                <a:solidFill>
                  <a:srgbClr val="557080"/>
                </a:solidFill>
                <a:latin typeface="Arial"/>
              </a:rPr>
              <a:t>Buying and suppliers</a:t>
            </a:r>
          </a:p>
          <a:p>
            <a:pPr algn="l">
              <a:lnSpc>
                <a:spcPct val="107000"/>
              </a:lnSpc>
              <a:spcBef>
                <a:spcPts val="0"/>
              </a:spcBef>
              <a:spcAft>
                <a:spcPts val="300"/>
              </a:spcAft>
            </a:pPr>
            <a:r>
              <a:rPr sz="1650" b="0">
                <a:solidFill>
                  <a:srgbClr val="557080"/>
                </a:solidFill>
                <a:latin typeface="Arial"/>
              </a:rPr>
              <a:t>Batch stock and billing</a:t>
            </a:r>
          </a:p>
          <a:p>
            <a:pPr algn="l">
              <a:lnSpc>
                <a:spcPct val="107000"/>
              </a:lnSpc>
              <a:spcBef>
                <a:spcPts val="0"/>
              </a:spcBef>
              <a:spcAft>
                <a:spcPts val="300"/>
              </a:spcAft>
            </a:pPr>
            <a:r>
              <a:rPr sz="1650" b="0">
                <a:solidFill>
                  <a:srgbClr val="557080"/>
                </a:solidFill>
                <a:latin typeface="Arial"/>
              </a:rPr>
              <a:t>Assets and maintenance</a:t>
            </a:r>
          </a:p>
        </p:txBody>
      </p:sp>
      <p:sp>
        <p:nvSpPr>
          <p:cNvPr id="15" name="Rounded Rectangle 14"/>
          <p:cNvSpPr/>
          <p:nvPr/>
        </p:nvSpPr>
        <p:spPr>
          <a:xfrm>
            <a:off x="4325112" y="2267712"/>
            <a:ext cx="3511296" cy="2560320"/>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25112" y="2267712"/>
            <a:ext cx="45720" cy="2560320"/>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2459736"/>
            <a:ext cx="3090672" cy="228600"/>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67F76"/>
                </a:solidFill>
                <a:latin typeface="Arial"/>
              </a:rPr>
              <a:t>COMPANION APPS • VALIDATE</a:t>
            </a:r>
          </a:p>
        </p:txBody>
      </p:sp>
      <p:sp>
        <p:nvSpPr>
          <p:cNvPr id="18" name="TextBox 17"/>
          <p:cNvSpPr txBox="1"/>
          <p:nvPr/>
        </p:nvSpPr>
        <p:spPr>
          <a:xfrm>
            <a:off x="4535424" y="2770632"/>
            <a:ext cx="3090672" cy="548640"/>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0B2438"/>
                </a:solidFill>
                <a:latin typeface="Arial"/>
              </a:rPr>
              <a:t>Specialist applications</a:t>
            </a:r>
          </a:p>
        </p:txBody>
      </p:sp>
      <p:sp>
        <p:nvSpPr>
          <p:cNvPr id="19" name="TextBox 18"/>
          <p:cNvSpPr txBox="1"/>
          <p:nvPr/>
        </p:nvSpPr>
        <p:spPr>
          <a:xfrm>
            <a:off x="4535424" y="3456432"/>
            <a:ext cx="3090672" cy="1261871"/>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Frappe Education</a:t>
            </a:r>
          </a:p>
          <a:p>
            <a:pPr algn="l">
              <a:lnSpc>
                <a:spcPct val="107000"/>
              </a:lnSpc>
              <a:spcBef>
                <a:spcPts val="0"/>
              </a:spcBef>
              <a:spcAft>
                <a:spcPts val="300"/>
              </a:spcAft>
            </a:pPr>
            <a:r>
              <a:rPr sz="1650" b="0">
                <a:solidFill>
                  <a:srgbClr val="557080"/>
                </a:solidFill>
                <a:latin typeface="Arial"/>
              </a:rPr>
              <a:t>Frappe HR: people and pay</a:t>
            </a:r>
          </a:p>
          <a:p>
            <a:pPr algn="l">
              <a:lnSpc>
                <a:spcPct val="107000"/>
              </a:lnSpc>
              <a:spcBef>
                <a:spcPts val="0"/>
              </a:spcBef>
              <a:spcAft>
                <a:spcPts val="300"/>
              </a:spcAft>
            </a:pPr>
            <a:r>
              <a:rPr sz="1650" b="0">
                <a:solidFill>
                  <a:srgbClr val="557080"/>
                </a:solidFill>
                <a:latin typeface="Arial"/>
              </a:rPr>
              <a:t>Marley Health: hospital</a:t>
            </a:r>
          </a:p>
          <a:p>
            <a:pPr algn="l">
              <a:lnSpc>
                <a:spcPct val="107000"/>
              </a:lnSpc>
              <a:spcBef>
                <a:spcPts val="0"/>
              </a:spcBef>
              <a:spcAft>
                <a:spcPts val="300"/>
              </a:spcAft>
            </a:pPr>
            <a:r>
              <a:rPr sz="1650" b="0">
                <a:solidFill>
                  <a:srgbClr val="557080"/>
                </a:solidFill>
                <a:latin typeface="Arial"/>
              </a:rPr>
              <a:t>LMS / existing systems</a:t>
            </a:r>
          </a:p>
        </p:txBody>
      </p:sp>
      <p:sp>
        <p:nvSpPr>
          <p:cNvPr id="20" name="Rounded Rectangle 19"/>
          <p:cNvSpPr/>
          <p:nvPr/>
        </p:nvSpPr>
        <p:spPr>
          <a:xfrm>
            <a:off x="8037575" y="2267712"/>
            <a:ext cx="3511296" cy="2560320"/>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37575" y="2267712"/>
            <a:ext cx="45720" cy="2560320"/>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7888" y="2459736"/>
            <a:ext cx="3090672" cy="228600"/>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67F76"/>
                </a:solidFill>
                <a:latin typeface="Arial"/>
              </a:rPr>
              <a:t>PMRG • CUSTOMISE / INTEGRATE</a:t>
            </a:r>
          </a:p>
        </p:txBody>
      </p:sp>
      <p:sp>
        <p:nvSpPr>
          <p:cNvPr id="23" name="TextBox 22"/>
          <p:cNvSpPr txBox="1"/>
          <p:nvPr/>
        </p:nvSpPr>
        <p:spPr>
          <a:xfrm>
            <a:off x="8247888" y="2770632"/>
            <a:ext cx="3090672" cy="548640"/>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0B2438"/>
                </a:solidFill>
                <a:latin typeface="Arial"/>
              </a:rPr>
              <a:t>PMRG extensions</a:t>
            </a:r>
          </a:p>
        </p:txBody>
      </p:sp>
      <p:sp>
        <p:nvSpPr>
          <p:cNvPr id="24" name="TextBox 23"/>
          <p:cNvSpPr txBox="1"/>
          <p:nvPr/>
        </p:nvSpPr>
        <p:spPr>
          <a:xfrm>
            <a:off x="8247888" y="3456432"/>
            <a:ext cx="3090672" cy="1261871"/>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Clinical forms and logbooks</a:t>
            </a:r>
          </a:p>
          <a:p>
            <a:pPr algn="l">
              <a:lnSpc>
                <a:spcPct val="107000"/>
              </a:lnSpc>
              <a:spcBef>
                <a:spcPts val="0"/>
              </a:spcBef>
              <a:spcAft>
                <a:spcPts val="300"/>
              </a:spcAft>
            </a:pPr>
            <a:r>
              <a:rPr sz="1650" b="0">
                <a:solidFill>
                  <a:srgbClr val="557080"/>
                </a:solidFill>
                <a:latin typeface="Arial"/>
              </a:rPr>
              <a:t>Panchakarma workflows</a:t>
            </a:r>
          </a:p>
          <a:p>
            <a:pPr algn="l">
              <a:lnSpc>
                <a:spcPct val="107000"/>
              </a:lnSpc>
              <a:spcBef>
                <a:spcPts val="0"/>
              </a:spcBef>
              <a:spcAft>
                <a:spcPts val="300"/>
              </a:spcAft>
            </a:pPr>
            <a:r>
              <a:rPr sz="1650" b="0">
                <a:solidFill>
                  <a:srgbClr val="557080"/>
                </a:solidFill>
                <a:latin typeface="Arial"/>
              </a:rPr>
              <a:t>Campus service integrations</a:t>
            </a:r>
          </a:p>
          <a:p>
            <a:pPr algn="l">
              <a:lnSpc>
                <a:spcPct val="107000"/>
              </a:lnSpc>
              <a:spcBef>
                <a:spcPts val="0"/>
              </a:spcBef>
              <a:spcAft>
                <a:spcPts val="300"/>
              </a:spcAft>
            </a:pPr>
            <a:r>
              <a:rPr sz="1650" b="0">
                <a:solidFill>
                  <a:srgbClr val="557080"/>
                </a:solidFill>
                <a:latin typeface="Arial"/>
              </a:rPr>
              <a:t>Evidence packs and AI</a:t>
            </a:r>
          </a:p>
        </p:txBody>
      </p:sp>
      <p:sp>
        <p:nvSpPr>
          <p:cNvPr id="25" name="Rounded Rectangle 24"/>
          <p:cNvSpPr/>
          <p:nvPr/>
        </p:nvSpPr>
        <p:spPr>
          <a:xfrm>
            <a:off x="612648" y="4937760"/>
            <a:ext cx="10936224" cy="539496"/>
          </a:xfrm>
          <a:prstGeom prst="roundRect">
            <a:avLst>
              <a:gd name="adj" fmla="val 10000"/>
            </a:avLst>
          </a:prstGeom>
          <a:solidFill>
            <a:srgbClr val="0B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111496"/>
            <a:ext cx="2057400" cy="228600"/>
          </a:xfrm>
          <a:prstGeom prst="rect">
            <a:avLst/>
          </a:prstGeom>
          <a:noFill/>
        </p:spPr>
        <p:txBody>
          <a:bodyPr wrap="square" lIns="0" rIns="0" tIns="0" bIns="0" anchor="t">
            <a:spAutoFit/>
          </a:bodyPr>
          <a:lstStyle/>
          <a:p>
            <a:pPr algn="l">
              <a:lnSpc>
                <a:spcPct val="107000"/>
              </a:lnSpc>
              <a:spcBef>
                <a:spcPts val="0"/>
              </a:spcBef>
              <a:spcAft>
                <a:spcPts val="300"/>
              </a:spcAft>
            </a:pPr>
            <a:r>
              <a:rPr sz="1200" b="1">
                <a:solidFill>
                  <a:srgbClr val="77CFB3"/>
                </a:solidFill>
                <a:latin typeface="Arial"/>
              </a:rPr>
              <a:t>SHARED CONTROLS</a:t>
            </a:r>
          </a:p>
        </p:txBody>
      </p:sp>
      <p:sp>
        <p:nvSpPr>
          <p:cNvPr id="27" name="TextBox 26"/>
          <p:cNvSpPr txBox="1"/>
          <p:nvPr/>
        </p:nvSpPr>
        <p:spPr>
          <a:xfrm>
            <a:off x="2788920" y="5084064"/>
            <a:ext cx="8513064" cy="283464"/>
          </a:xfrm>
          <a:prstGeom prst="rect">
            <a:avLst/>
          </a:prstGeom>
          <a:noFill/>
        </p:spPr>
        <p:txBody>
          <a:bodyPr wrap="square" lIns="0" rIns="0" tIns="0" bIns="0" anchor="t">
            <a:spAutoFit/>
          </a:bodyPr>
          <a:lstStyle/>
          <a:p>
            <a:pPr algn="l">
              <a:lnSpc>
                <a:spcPct val="107000"/>
              </a:lnSpc>
              <a:spcBef>
                <a:spcPts val="0"/>
              </a:spcBef>
              <a:spcAft>
                <a:spcPts val="300"/>
              </a:spcAft>
            </a:pPr>
            <a:r>
              <a:rPr sz="1450" b="0">
                <a:solidFill>
                  <a:srgbClr val="FFFFFF"/>
                </a:solidFill>
                <a:latin typeface="Arial"/>
              </a:rPr>
              <a:t>Role-based access  |  Approvals  |  Audit history  |  Reports  |  APIs  |  Backup and recovery</a:t>
            </a:r>
          </a:p>
        </p:txBody>
      </p:sp>
      <p:sp>
        <p:nvSpPr>
          <p:cNvPr id="28" name="TextBox 27"/>
          <p:cNvSpPr txBox="1"/>
          <p:nvPr/>
        </p:nvSpPr>
        <p:spPr>
          <a:xfrm>
            <a:off x="658368" y="5687568"/>
            <a:ext cx="2276856" cy="274320"/>
          </a:xfrm>
          <a:prstGeom prst="rect">
            <a:avLst/>
          </a:prstGeom>
          <a:noFill/>
        </p:spPr>
        <p:txBody>
          <a:bodyPr wrap="square" lIns="0" rIns="0" tIns="0" bIns="0" anchor="t">
            <a:spAutoFit/>
          </a:bodyPr>
          <a:lstStyle/>
          <a:p>
            <a:pPr algn="l">
              <a:lnSpc>
                <a:spcPct val="107000"/>
              </a:lnSpc>
              <a:spcBef>
                <a:spcPts val="0"/>
              </a:spcBef>
              <a:spcAft>
                <a:spcPts val="300"/>
              </a:spcAft>
            </a:pPr>
            <a:r>
              <a:rPr sz="1300" b="1">
                <a:solidFill>
                  <a:srgbClr val="557080"/>
                </a:solidFill>
                <a:latin typeface="Arial"/>
              </a:rPr>
              <a:t>Connect where authorised:</a:t>
            </a:r>
          </a:p>
        </p:txBody>
      </p:sp>
      <p:sp>
        <p:nvSpPr>
          <p:cNvPr id="29" name="Rounded Rectangle 28"/>
          <p:cNvSpPr/>
          <p:nvPr/>
        </p:nvSpPr>
        <p:spPr>
          <a:xfrm>
            <a:off x="2990088" y="5650992"/>
            <a:ext cx="1133856" cy="310896"/>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81528" y="5701283"/>
            <a:ext cx="950976" cy="219456"/>
          </a:xfrm>
          <a:prstGeom prst="rect">
            <a:avLst/>
          </a:prstGeom>
          <a:noFill/>
        </p:spPr>
        <p:txBody>
          <a:bodyPr wrap="square" lIns="0" rIns="0" tIns="0" bIns="0" anchor="t">
            <a:spAutoFit/>
          </a:bodyPr>
          <a:lstStyle/>
          <a:p>
            <a:pPr algn="l">
              <a:lnSpc>
                <a:spcPct val="107000"/>
              </a:lnSpc>
              <a:spcBef>
                <a:spcPts val="0"/>
              </a:spcBef>
              <a:spcAft>
                <a:spcPts val="300"/>
              </a:spcAft>
            </a:pPr>
            <a:r>
              <a:rPr sz="1050" b="1">
                <a:solidFill>
                  <a:srgbClr val="067F76"/>
                </a:solidFill>
                <a:latin typeface="Arial"/>
              </a:rPr>
              <a:t>Payments</a:t>
            </a:r>
          </a:p>
        </p:txBody>
      </p:sp>
      <p:sp>
        <p:nvSpPr>
          <p:cNvPr id="31" name="Rounded Rectangle 30"/>
          <p:cNvSpPr/>
          <p:nvPr/>
        </p:nvSpPr>
        <p:spPr>
          <a:xfrm>
            <a:off x="4251960" y="5650992"/>
            <a:ext cx="1261872" cy="310896"/>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43400" y="5701283"/>
            <a:ext cx="1078992" cy="219456"/>
          </a:xfrm>
          <a:prstGeom prst="rect">
            <a:avLst/>
          </a:prstGeom>
          <a:noFill/>
        </p:spPr>
        <p:txBody>
          <a:bodyPr wrap="square" lIns="0" rIns="0" tIns="0" bIns="0" anchor="t">
            <a:spAutoFit/>
          </a:bodyPr>
          <a:lstStyle/>
          <a:p>
            <a:pPr algn="l">
              <a:lnSpc>
                <a:spcPct val="107000"/>
              </a:lnSpc>
              <a:spcBef>
                <a:spcPts val="0"/>
              </a:spcBef>
              <a:spcAft>
                <a:spcPts val="300"/>
              </a:spcAft>
            </a:pPr>
            <a:r>
              <a:rPr sz="1050" b="1">
                <a:solidFill>
                  <a:srgbClr val="067F76"/>
                </a:solidFill>
                <a:latin typeface="Arial"/>
              </a:rPr>
              <a:t>Biometrics</a:t>
            </a:r>
          </a:p>
        </p:txBody>
      </p:sp>
      <p:sp>
        <p:nvSpPr>
          <p:cNvPr id="33" name="Rounded Rectangle 32"/>
          <p:cNvSpPr/>
          <p:nvPr/>
        </p:nvSpPr>
        <p:spPr>
          <a:xfrm>
            <a:off x="5641848" y="5650992"/>
            <a:ext cx="2139696" cy="310896"/>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33288" y="5701283"/>
            <a:ext cx="1956815" cy="219456"/>
          </a:xfrm>
          <a:prstGeom prst="rect">
            <a:avLst/>
          </a:prstGeom>
          <a:noFill/>
        </p:spPr>
        <p:txBody>
          <a:bodyPr wrap="square" lIns="0" rIns="0" tIns="0" bIns="0" anchor="t">
            <a:spAutoFit/>
          </a:bodyPr>
          <a:lstStyle/>
          <a:p>
            <a:pPr algn="l">
              <a:lnSpc>
                <a:spcPct val="107000"/>
              </a:lnSpc>
              <a:spcBef>
                <a:spcPts val="0"/>
              </a:spcBef>
              <a:spcAft>
                <a:spcPts val="300"/>
              </a:spcAft>
            </a:pPr>
            <a:r>
              <a:rPr sz="1050" b="1">
                <a:solidFill>
                  <a:srgbClr val="067F76"/>
                </a:solidFill>
                <a:latin typeface="Arial"/>
              </a:rPr>
              <a:t>LMS / library / HMIS</a:t>
            </a:r>
          </a:p>
        </p:txBody>
      </p:sp>
      <p:sp>
        <p:nvSpPr>
          <p:cNvPr id="35" name="Rounded Rectangle 34"/>
          <p:cNvSpPr/>
          <p:nvPr/>
        </p:nvSpPr>
        <p:spPr>
          <a:xfrm>
            <a:off x="7909560" y="5650992"/>
            <a:ext cx="1746504" cy="310896"/>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01000" y="5701283"/>
            <a:ext cx="1563624" cy="219456"/>
          </a:xfrm>
          <a:prstGeom prst="rect">
            <a:avLst/>
          </a:prstGeom>
          <a:noFill/>
        </p:spPr>
        <p:txBody>
          <a:bodyPr wrap="square" lIns="0" rIns="0" tIns="0" bIns="0" anchor="t">
            <a:spAutoFit/>
          </a:bodyPr>
          <a:lstStyle/>
          <a:p>
            <a:pPr algn="l">
              <a:lnSpc>
                <a:spcPct val="107000"/>
              </a:lnSpc>
              <a:spcBef>
                <a:spcPts val="0"/>
              </a:spcBef>
              <a:spcAft>
                <a:spcPts val="300"/>
              </a:spcAft>
            </a:pPr>
            <a:r>
              <a:rPr sz="1050" b="1">
                <a:solidFill>
                  <a:srgbClr val="067F76"/>
                </a:solidFill>
                <a:latin typeface="Arial"/>
              </a:rPr>
              <a:t>University exports</a:t>
            </a:r>
          </a:p>
        </p:txBody>
      </p:sp>
      <p:sp>
        <p:nvSpPr>
          <p:cNvPr id="37" name="Rounded Rectangle 36"/>
          <p:cNvSpPr/>
          <p:nvPr/>
        </p:nvSpPr>
        <p:spPr>
          <a:xfrm>
            <a:off x="9784080" y="5650992"/>
            <a:ext cx="1737360" cy="310896"/>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19" y="5701283"/>
            <a:ext cx="1554480" cy="219456"/>
          </a:xfrm>
          <a:prstGeom prst="rect">
            <a:avLst/>
          </a:prstGeom>
          <a:noFill/>
        </p:spPr>
        <p:txBody>
          <a:bodyPr wrap="square" lIns="0" rIns="0" tIns="0" bIns="0" anchor="t">
            <a:spAutoFit/>
          </a:bodyPr>
          <a:lstStyle/>
          <a:p>
            <a:pPr algn="l">
              <a:lnSpc>
                <a:spcPct val="107000"/>
              </a:lnSpc>
              <a:spcBef>
                <a:spcPts val="0"/>
              </a:spcBef>
              <a:spcAft>
                <a:spcPts val="300"/>
              </a:spcAft>
            </a:pPr>
            <a:r>
              <a:rPr sz="1050" b="1">
                <a:solidFill>
                  <a:srgbClr val="067F76"/>
                </a:solidFill>
                <a:latin typeface="Arial"/>
              </a:rPr>
              <a:t>Email / messaging</a:t>
            </a:r>
          </a:p>
        </p:txBody>
      </p:sp>
      <p:sp>
        <p:nvSpPr>
          <p:cNvPr id="39" name="TextBox 38"/>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557080"/>
                </a:solidFill>
                <a:latin typeface="Arial"/>
              </a:rPr>
              <a:t>App versions, licensing, integration access and hosting are confirmed during discovery. Source links are in the slide notes.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6F9FA"/>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mrg_logo.png"/>
          <p:cNvPicPr>
            <a:picLocks noChangeAspect="1"/>
          </p:cNvPicPr>
          <p:nvPr/>
        </p:nvPicPr>
        <p:blipFill>
          <a:blip r:embed="rId2"/>
          <a:stretch>
            <a:fillRect/>
          </a:stretch>
        </p:blipFill>
        <p:spPr>
          <a:xfrm>
            <a:off x="10168128" y="320040"/>
            <a:ext cx="1408176" cy="625703"/>
          </a:xfrm>
          <a:prstGeom prst="rect">
            <a:avLst/>
          </a:prstGeom>
        </p:spPr>
      </p:pic>
      <p:sp>
        <p:nvSpPr>
          <p:cNvPr id="4" name="TextBox 3"/>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ACADEMICS &amp; STUDENT EXPERIENCE</a:t>
            </a:r>
          </a:p>
        </p:txBody>
      </p:sp>
      <p:sp>
        <p:nvSpPr>
          <p:cNvPr id="5" name="TextBox 4"/>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0B2438"/>
                </a:solidFill>
                <a:latin typeface="Arial"/>
              </a:rPr>
              <a:t>Manage the complete student journey</a:t>
            </a:r>
          </a:p>
        </p:txBody>
      </p:sp>
      <p:sp>
        <p:nvSpPr>
          <p:cNvPr id="6" name="TextBox 5"/>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Support BAMS and, where applicable, postgraduate programs with college-approved academic rules.</a:t>
            </a:r>
          </a:p>
        </p:txBody>
      </p:sp>
      <p:cxnSp>
        <p:nvCxnSpPr>
          <p:cNvPr id="7" name="Connector 6"/>
          <p:cNvCxnSpPr/>
          <p:nvPr/>
        </p:nvCxnSpPr>
        <p:spPr>
          <a:xfrm>
            <a:off x="585216" y="6400800"/>
            <a:ext cx="11009376" cy="0"/>
          </a:xfrm>
          <a:prstGeom prst="line">
            <a:avLst/>
          </a:prstGeom>
          <a:ln w="10160">
            <a:solidFill>
              <a:srgbClr val="D5E1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557080"/>
                </a:solidFill>
                <a:latin typeface="Arial"/>
              </a:rPr>
              <a:t>PMRG SOLUTION LLP  |  AYURVEDA COLLEGE ERP</a:t>
            </a:r>
          </a:p>
        </p:txBody>
      </p:sp>
      <p:sp>
        <p:nvSpPr>
          <p:cNvPr id="9" name="TextBox 8"/>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557080"/>
                </a:solidFill>
                <a:latin typeface="Arial"/>
              </a:rPr>
              <a:t>04 / 11</a:t>
            </a:r>
          </a:p>
        </p:txBody>
      </p:sp>
      <p:sp>
        <p:nvSpPr>
          <p:cNvPr id="10" name="Oval 9"/>
          <p:cNvSpPr/>
          <p:nvPr/>
        </p:nvSpPr>
        <p:spPr>
          <a:xfrm>
            <a:off x="612648" y="2231136"/>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249424"/>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01</a:t>
            </a:r>
          </a:p>
        </p:txBody>
      </p:sp>
      <p:cxnSp>
        <p:nvCxnSpPr>
          <p:cNvPr id="12" name="Connector 11"/>
          <p:cNvCxnSpPr/>
          <p:nvPr/>
        </p:nvCxnSpPr>
        <p:spPr>
          <a:xfrm>
            <a:off x="1115568" y="2441448"/>
            <a:ext cx="2084832" cy="0"/>
          </a:xfrm>
          <a:prstGeom prst="line">
            <a:avLst/>
          </a:prstGeom>
          <a:ln w="25400">
            <a:solidFill>
              <a:srgbClr val="D5E1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8" y="2862072"/>
            <a:ext cx="2542032" cy="557784"/>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0B2438"/>
                </a:solidFill>
                <a:latin typeface="Arial"/>
              </a:rPr>
              <a:t>Admit &amp; enrol</a:t>
            </a:r>
          </a:p>
        </p:txBody>
      </p:sp>
      <p:sp>
        <p:nvSpPr>
          <p:cNvPr id="14" name="TextBox 13"/>
          <p:cNvSpPr txBox="1"/>
          <p:nvPr/>
        </p:nvSpPr>
        <p:spPr>
          <a:xfrm>
            <a:off x="612648" y="3611880"/>
            <a:ext cx="2496312" cy="1243584"/>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557080"/>
                </a:solidFill>
                <a:latin typeface="Arial"/>
              </a:rPr>
              <a:t>Applications and checks</a:t>
            </a:r>
          </a:p>
          <a:p>
            <a:pPr algn="l">
              <a:lnSpc>
                <a:spcPct val="107000"/>
              </a:lnSpc>
              <a:spcBef>
                <a:spcPts val="0"/>
              </a:spcBef>
              <a:spcAft>
                <a:spcPts val="300"/>
              </a:spcAft>
            </a:pPr>
            <a:r>
              <a:rPr sz="1700" b="0">
                <a:solidFill>
                  <a:srgbClr val="557080"/>
                </a:solidFill>
                <a:latin typeface="Arial"/>
              </a:rPr>
              <a:t>Admission records</a:t>
            </a:r>
          </a:p>
          <a:p>
            <a:pPr algn="l">
              <a:lnSpc>
                <a:spcPct val="107000"/>
              </a:lnSpc>
              <a:spcBef>
                <a:spcPts val="0"/>
              </a:spcBef>
              <a:spcAft>
                <a:spcPts val="300"/>
              </a:spcAft>
            </a:pPr>
            <a:r>
              <a:rPr sz="1700" b="0">
                <a:solidFill>
                  <a:srgbClr val="557080"/>
                </a:solidFill>
                <a:latin typeface="Arial"/>
              </a:rPr>
              <a:t>Fees and receipts</a:t>
            </a:r>
          </a:p>
        </p:txBody>
      </p:sp>
      <p:sp>
        <p:nvSpPr>
          <p:cNvPr id="15" name="Oval 14"/>
          <p:cNvSpPr/>
          <p:nvPr/>
        </p:nvSpPr>
        <p:spPr>
          <a:xfrm>
            <a:off x="3396996" y="2231136"/>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96996" y="2249424"/>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02</a:t>
            </a:r>
          </a:p>
        </p:txBody>
      </p:sp>
      <p:cxnSp>
        <p:nvCxnSpPr>
          <p:cNvPr id="17" name="Connector 16"/>
          <p:cNvCxnSpPr/>
          <p:nvPr/>
        </p:nvCxnSpPr>
        <p:spPr>
          <a:xfrm>
            <a:off x="3899915" y="2441448"/>
            <a:ext cx="2084833" cy="0"/>
          </a:xfrm>
          <a:prstGeom prst="line">
            <a:avLst/>
          </a:prstGeom>
          <a:ln w="25400">
            <a:solidFill>
              <a:srgbClr val="D5E1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96996" y="2862072"/>
            <a:ext cx="2542032" cy="557784"/>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0B2438"/>
                </a:solidFill>
                <a:latin typeface="Arial"/>
              </a:rPr>
              <a:t>Plan &amp; teach</a:t>
            </a:r>
          </a:p>
        </p:txBody>
      </p:sp>
      <p:sp>
        <p:nvSpPr>
          <p:cNvPr id="19" name="TextBox 18"/>
          <p:cNvSpPr txBox="1"/>
          <p:nvPr/>
        </p:nvSpPr>
        <p:spPr>
          <a:xfrm>
            <a:off x="3396996" y="3611880"/>
            <a:ext cx="2496312" cy="1243584"/>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557080"/>
                </a:solidFill>
                <a:latin typeface="Arial"/>
              </a:rPr>
              <a:t>Programs and batches</a:t>
            </a:r>
          </a:p>
          <a:p>
            <a:pPr algn="l">
              <a:lnSpc>
                <a:spcPct val="107000"/>
              </a:lnSpc>
              <a:spcBef>
                <a:spcPts val="0"/>
              </a:spcBef>
              <a:spcAft>
                <a:spcPts val="300"/>
              </a:spcAft>
            </a:pPr>
            <a:r>
              <a:rPr sz="1700" b="0">
                <a:solidFill>
                  <a:srgbClr val="557080"/>
                </a:solidFill>
                <a:latin typeface="Arial"/>
              </a:rPr>
              <a:t>Timetables and faculty</a:t>
            </a:r>
          </a:p>
          <a:p>
            <a:pPr algn="l">
              <a:lnSpc>
                <a:spcPct val="107000"/>
              </a:lnSpc>
              <a:spcBef>
                <a:spcPts val="0"/>
              </a:spcBef>
              <a:spcAft>
                <a:spcPts val="300"/>
              </a:spcAft>
            </a:pPr>
            <a:r>
              <a:rPr sz="1700" b="0">
                <a:solidFill>
                  <a:srgbClr val="557080"/>
                </a:solidFill>
                <a:latin typeface="Arial"/>
              </a:rPr>
              <a:t>Attendance and portal</a:t>
            </a:r>
          </a:p>
        </p:txBody>
      </p:sp>
      <p:sp>
        <p:nvSpPr>
          <p:cNvPr id="20" name="Oval 19"/>
          <p:cNvSpPr/>
          <p:nvPr/>
        </p:nvSpPr>
        <p:spPr>
          <a:xfrm>
            <a:off x="6181344" y="2231136"/>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1344" y="2249424"/>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03</a:t>
            </a:r>
          </a:p>
        </p:txBody>
      </p:sp>
      <p:cxnSp>
        <p:nvCxnSpPr>
          <p:cNvPr id="22" name="Connector 21"/>
          <p:cNvCxnSpPr/>
          <p:nvPr/>
        </p:nvCxnSpPr>
        <p:spPr>
          <a:xfrm>
            <a:off x="6684264" y="2441448"/>
            <a:ext cx="2084832" cy="0"/>
          </a:xfrm>
          <a:prstGeom prst="line">
            <a:avLst/>
          </a:prstGeom>
          <a:ln w="25400">
            <a:solidFill>
              <a:srgbClr val="D5E1E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81344" y="2862072"/>
            <a:ext cx="2542032" cy="557784"/>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0B2438"/>
                </a:solidFill>
                <a:latin typeface="Arial"/>
              </a:rPr>
              <a:t>Assess &amp; progress</a:t>
            </a:r>
          </a:p>
        </p:txBody>
      </p:sp>
      <p:sp>
        <p:nvSpPr>
          <p:cNvPr id="24" name="TextBox 23"/>
          <p:cNvSpPr txBox="1"/>
          <p:nvPr/>
        </p:nvSpPr>
        <p:spPr>
          <a:xfrm>
            <a:off x="6181344" y="3611880"/>
            <a:ext cx="2496312" cy="1243584"/>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557080"/>
                </a:solidFill>
                <a:latin typeface="Arial"/>
              </a:rPr>
              <a:t>Internal assessments</a:t>
            </a:r>
          </a:p>
          <a:p>
            <a:pPr algn="l">
              <a:lnSpc>
                <a:spcPct val="107000"/>
              </a:lnSpc>
              <a:spcBef>
                <a:spcPts val="0"/>
              </a:spcBef>
              <a:spcAft>
                <a:spcPts val="300"/>
              </a:spcAft>
            </a:pPr>
            <a:r>
              <a:rPr sz="1700" b="0">
                <a:solidFill>
                  <a:srgbClr val="557080"/>
                </a:solidFill>
                <a:latin typeface="Arial"/>
              </a:rPr>
              <a:t>Practicals and exams</a:t>
            </a:r>
          </a:p>
          <a:p>
            <a:pPr algn="l">
              <a:lnSpc>
                <a:spcPct val="107000"/>
              </a:lnSpc>
              <a:spcBef>
                <a:spcPts val="0"/>
              </a:spcBef>
              <a:spcAft>
                <a:spcPts val="300"/>
              </a:spcAft>
            </a:pPr>
            <a:r>
              <a:rPr sz="1700" b="0">
                <a:solidFill>
                  <a:srgbClr val="557080"/>
                </a:solidFill>
                <a:latin typeface="Arial"/>
              </a:rPr>
              <a:t>Reviewed grade records</a:t>
            </a:r>
          </a:p>
        </p:txBody>
      </p:sp>
      <p:sp>
        <p:nvSpPr>
          <p:cNvPr id="25" name="Oval 24"/>
          <p:cNvSpPr/>
          <p:nvPr/>
        </p:nvSpPr>
        <p:spPr>
          <a:xfrm>
            <a:off x="8965692" y="2231136"/>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5692" y="2249424"/>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04</a:t>
            </a:r>
          </a:p>
        </p:txBody>
      </p:sp>
      <p:sp>
        <p:nvSpPr>
          <p:cNvPr id="27" name="TextBox 26"/>
          <p:cNvSpPr txBox="1"/>
          <p:nvPr/>
        </p:nvSpPr>
        <p:spPr>
          <a:xfrm>
            <a:off x="8965692" y="2862072"/>
            <a:ext cx="2542032" cy="557784"/>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0B2438"/>
                </a:solidFill>
                <a:latin typeface="Arial"/>
              </a:rPr>
              <a:t>Train &amp; complete</a:t>
            </a:r>
          </a:p>
        </p:txBody>
      </p:sp>
      <p:sp>
        <p:nvSpPr>
          <p:cNvPr id="28" name="TextBox 27"/>
          <p:cNvSpPr txBox="1"/>
          <p:nvPr/>
        </p:nvSpPr>
        <p:spPr>
          <a:xfrm>
            <a:off x="8965692" y="3611880"/>
            <a:ext cx="2496312" cy="1243584"/>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557080"/>
                </a:solidFill>
                <a:latin typeface="Arial"/>
              </a:rPr>
              <a:t>Postings and rotations</a:t>
            </a:r>
          </a:p>
          <a:p>
            <a:pPr algn="l">
              <a:lnSpc>
                <a:spcPct val="107000"/>
              </a:lnSpc>
              <a:spcBef>
                <a:spcPts val="0"/>
              </a:spcBef>
              <a:spcAft>
                <a:spcPts val="300"/>
              </a:spcAft>
            </a:pPr>
            <a:r>
              <a:rPr sz="1700" b="0">
                <a:solidFill>
                  <a:srgbClr val="557080"/>
                </a:solidFill>
                <a:latin typeface="Arial"/>
              </a:rPr>
              <a:t>Approved logbooks</a:t>
            </a:r>
          </a:p>
          <a:p>
            <a:pPr algn="l">
              <a:lnSpc>
                <a:spcPct val="107000"/>
              </a:lnSpc>
              <a:spcBef>
                <a:spcPts val="0"/>
              </a:spcBef>
              <a:spcAft>
                <a:spcPts val="300"/>
              </a:spcAft>
            </a:pPr>
            <a:r>
              <a:rPr sz="1700" b="0">
                <a:solidFill>
                  <a:srgbClr val="557080"/>
                </a:solidFill>
                <a:latin typeface="Arial"/>
              </a:rPr>
              <a:t>Completion records</a:t>
            </a:r>
          </a:p>
        </p:txBody>
      </p:sp>
      <p:sp>
        <p:nvSpPr>
          <p:cNvPr id="29" name="Rounded Rectangle 28"/>
          <p:cNvSpPr/>
          <p:nvPr/>
        </p:nvSpPr>
        <p:spPr>
          <a:xfrm>
            <a:off x="612648" y="5084064"/>
            <a:ext cx="10945368" cy="804672"/>
          </a:xfrm>
          <a:prstGeom prst="roundRect">
            <a:avLst>
              <a:gd name="adj" fmla="val 10000"/>
            </a:avLst>
          </a:prstGeom>
          <a:solidFill>
            <a:srgbClr val="0B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 y="5276088"/>
            <a:ext cx="2267712" cy="365760"/>
          </a:xfrm>
          <a:prstGeom prst="rect">
            <a:avLst/>
          </a:prstGeom>
          <a:noFill/>
        </p:spPr>
        <p:txBody>
          <a:bodyPr wrap="square" lIns="0" rIns="0" tIns="0" bIns="0" anchor="t">
            <a:spAutoFit/>
          </a:bodyPr>
          <a:lstStyle/>
          <a:p>
            <a:pPr algn="l">
              <a:lnSpc>
                <a:spcPct val="107000"/>
              </a:lnSpc>
              <a:spcBef>
                <a:spcPts val="0"/>
              </a:spcBef>
              <a:spcAft>
                <a:spcPts val="300"/>
              </a:spcAft>
            </a:pPr>
            <a:r>
              <a:rPr sz="1200" b="1">
                <a:solidFill>
                  <a:srgbClr val="77CFB3"/>
                </a:solidFill>
                <a:latin typeface="Arial"/>
              </a:rPr>
              <a:t>A SINGLE STUDENT VIEW</a:t>
            </a:r>
          </a:p>
        </p:txBody>
      </p:sp>
      <p:sp>
        <p:nvSpPr>
          <p:cNvPr id="31" name="TextBox 30"/>
          <p:cNvSpPr txBox="1"/>
          <p:nvPr/>
        </p:nvSpPr>
        <p:spPr>
          <a:xfrm>
            <a:off x="3200400" y="5266944"/>
            <a:ext cx="8092440" cy="594360"/>
          </a:xfrm>
          <a:prstGeom prst="rect">
            <a:avLst/>
          </a:prstGeom>
          <a:noFill/>
        </p:spPr>
        <p:txBody>
          <a:bodyPr wrap="square" lIns="0" rIns="0" tIns="0" bIns="0" anchor="t">
            <a:spAutoFit/>
          </a:bodyPr>
          <a:lstStyle/>
          <a:p>
            <a:pPr algn="l">
              <a:lnSpc>
                <a:spcPct val="107000"/>
              </a:lnSpc>
              <a:spcBef>
                <a:spcPts val="0"/>
              </a:spcBef>
              <a:spcAft>
                <a:spcPts val="300"/>
              </a:spcAft>
            </a:pPr>
            <a:r>
              <a:rPr sz="1800" b="0">
                <a:solidFill>
                  <a:srgbClr val="FFFFFF"/>
                </a:solidFill>
                <a:latin typeface="Arial"/>
              </a:rPr>
              <a:t>Profile, dues, attendance, results and approved clinical progress—accessible by role.</a:t>
            </a:r>
          </a:p>
        </p:txBody>
      </p:sp>
      <p:sp>
        <p:nvSpPr>
          <p:cNvPr id="32" name="TextBox 31"/>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557080"/>
                </a:solidFill>
                <a:latin typeface="Arial"/>
              </a:rPr>
              <a:t>Education app + PMRG configuration. Clinical logbooks, university formats and completion workflows are tailored scope.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6F9FA"/>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mrg_logo.png"/>
          <p:cNvPicPr>
            <a:picLocks noChangeAspect="1"/>
          </p:cNvPicPr>
          <p:nvPr/>
        </p:nvPicPr>
        <p:blipFill>
          <a:blip r:embed="rId2"/>
          <a:stretch>
            <a:fillRect/>
          </a:stretch>
        </p:blipFill>
        <p:spPr>
          <a:xfrm>
            <a:off x="10168128" y="320040"/>
            <a:ext cx="1408176" cy="625703"/>
          </a:xfrm>
          <a:prstGeom prst="rect">
            <a:avLst/>
          </a:prstGeom>
        </p:spPr>
      </p:pic>
      <p:sp>
        <p:nvSpPr>
          <p:cNvPr id="4" name="TextBox 3"/>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TEACHING HOSPITAL &amp; CLINICAL LEARNING</a:t>
            </a:r>
          </a:p>
        </p:txBody>
      </p:sp>
      <p:sp>
        <p:nvSpPr>
          <p:cNvPr id="5" name="TextBox 4"/>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0B2438"/>
                </a:solidFill>
                <a:latin typeface="Arial"/>
              </a:rPr>
              <a:t>Connect the teaching hospital to the campus</a:t>
            </a:r>
          </a:p>
        </p:txBody>
      </p:sp>
      <p:sp>
        <p:nvSpPr>
          <p:cNvPr id="6" name="TextBox 5"/>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Give authorised teams a consistent record from patient registration through care, dispensing and billing.</a:t>
            </a:r>
          </a:p>
        </p:txBody>
      </p:sp>
      <p:cxnSp>
        <p:nvCxnSpPr>
          <p:cNvPr id="7" name="Connector 6"/>
          <p:cNvCxnSpPr/>
          <p:nvPr/>
        </p:nvCxnSpPr>
        <p:spPr>
          <a:xfrm>
            <a:off x="585216" y="6400800"/>
            <a:ext cx="11009376" cy="0"/>
          </a:xfrm>
          <a:prstGeom prst="line">
            <a:avLst/>
          </a:prstGeom>
          <a:ln w="10160">
            <a:solidFill>
              <a:srgbClr val="D5E1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557080"/>
                </a:solidFill>
                <a:latin typeface="Arial"/>
              </a:rPr>
              <a:t>PMRG SOLUTION LLP  |  AYURVEDA COLLEGE ERP</a:t>
            </a:r>
          </a:p>
        </p:txBody>
      </p:sp>
      <p:sp>
        <p:nvSpPr>
          <p:cNvPr id="9" name="TextBox 8"/>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557080"/>
                </a:solidFill>
                <a:latin typeface="Arial"/>
              </a:rPr>
              <a:t>05 / 11</a:t>
            </a:r>
          </a:p>
        </p:txBody>
      </p:sp>
      <p:sp>
        <p:nvSpPr>
          <p:cNvPr id="10" name="Oval 9"/>
          <p:cNvSpPr/>
          <p:nvPr/>
        </p:nvSpPr>
        <p:spPr>
          <a:xfrm>
            <a:off x="1344168" y="2212848"/>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44168" y="2231136"/>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1</a:t>
            </a:r>
          </a:p>
        </p:txBody>
      </p:sp>
      <p:cxnSp>
        <p:nvCxnSpPr>
          <p:cNvPr id="12" name="Connector 11"/>
          <p:cNvCxnSpPr/>
          <p:nvPr/>
        </p:nvCxnSpPr>
        <p:spPr>
          <a:xfrm>
            <a:off x="1801368" y="2418588"/>
            <a:ext cx="1664208" cy="0"/>
          </a:xfrm>
          <a:prstGeom prst="line">
            <a:avLst/>
          </a:prstGeom>
          <a:ln w="21590">
            <a:solidFill>
              <a:srgbClr val="D5E1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8" y="2770632"/>
            <a:ext cx="2048256" cy="365760"/>
          </a:xfrm>
          <a:prstGeom prst="rect">
            <a:avLst/>
          </a:prstGeom>
          <a:noFill/>
        </p:spPr>
        <p:txBody>
          <a:bodyPr wrap="square" lIns="0" rIns="0" tIns="0" bIns="0" anchor="t">
            <a:spAutoFit/>
          </a:bodyPr>
          <a:lstStyle/>
          <a:p>
            <a:pPr algn="ctr">
              <a:lnSpc>
                <a:spcPct val="107000"/>
              </a:lnSpc>
              <a:spcBef>
                <a:spcPts val="0"/>
              </a:spcBef>
              <a:spcAft>
                <a:spcPts val="300"/>
              </a:spcAft>
            </a:pPr>
            <a:r>
              <a:rPr sz="2100" b="1">
                <a:solidFill>
                  <a:srgbClr val="0B2438"/>
                </a:solidFill>
                <a:latin typeface="Arial"/>
              </a:rPr>
              <a:t>Register</a:t>
            </a:r>
          </a:p>
        </p:txBody>
      </p:sp>
      <p:sp>
        <p:nvSpPr>
          <p:cNvPr id="14" name="TextBox 13"/>
          <p:cNvSpPr txBox="1"/>
          <p:nvPr/>
        </p:nvSpPr>
        <p:spPr>
          <a:xfrm>
            <a:off x="612648" y="3264408"/>
            <a:ext cx="2048256" cy="667512"/>
          </a:xfrm>
          <a:prstGeom prst="rect">
            <a:avLst/>
          </a:prstGeom>
          <a:noFill/>
        </p:spPr>
        <p:txBody>
          <a:bodyPr wrap="square" lIns="0" rIns="0" tIns="0" bIns="0" anchor="t">
            <a:spAutoFit/>
          </a:bodyPr>
          <a:lstStyle/>
          <a:p>
            <a:pPr algn="ctr">
              <a:lnSpc>
                <a:spcPct val="107000"/>
              </a:lnSpc>
              <a:spcBef>
                <a:spcPts val="0"/>
              </a:spcBef>
              <a:spcAft>
                <a:spcPts val="300"/>
              </a:spcAft>
            </a:pPr>
            <a:r>
              <a:rPr sz="1550" b="0">
                <a:solidFill>
                  <a:srgbClr val="557080"/>
                </a:solidFill>
                <a:latin typeface="Arial"/>
              </a:rPr>
              <a:t>Patient identity</a:t>
            </a:r>
          </a:p>
          <a:p>
            <a:pPr algn="ctr">
              <a:lnSpc>
                <a:spcPct val="107000"/>
              </a:lnSpc>
              <a:spcBef>
                <a:spcPts val="0"/>
              </a:spcBef>
              <a:spcAft>
                <a:spcPts val="300"/>
              </a:spcAft>
            </a:pPr>
            <a:r>
              <a:rPr sz="1550" b="0">
                <a:solidFill>
                  <a:srgbClr val="557080"/>
                </a:solidFill>
                <a:latin typeface="Arial"/>
              </a:rPr>
              <a:t>Appointment / queue</a:t>
            </a:r>
          </a:p>
        </p:txBody>
      </p:sp>
      <p:sp>
        <p:nvSpPr>
          <p:cNvPr id="15" name="Oval 14"/>
          <p:cNvSpPr/>
          <p:nvPr/>
        </p:nvSpPr>
        <p:spPr>
          <a:xfrm>
            <a:off x="3561587" y="2212848"/>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1587" y="2231136"/>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2</a:t>
            </a:r>
          </a:p>
        </p:txBody>
      </p:sp>
      <p:cxnSp>
        <p:nvCxnSpPr>
          <p:cNvPr id="17" name="Connector 16"/>
          <p:cNvCxnSpPr/>
          <p:nvPr/>
        </p:nvCxnSpPr>
        <p:spPr>
          <a:xfrm>
            <a:off x="4018787" y="2418588"/>
            <a:ext cx="1664209" cy="0"/>
          </a:xfrm>
          <a:prstGeom prst="line">
            <a:avLst/>
          </a:prstGeom>
          <a:ln w="21590">
            <a:solidFill>
              <a:srgbClr val="D5E1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830068" y="2770632"/>
            <a:ext cx="2048256" cy="365760"/>
          </a:xfrm>
          <a:prstGeom prst="rect">
            <a:avLst/>
          </a:prstGeom>
          <a:noFill/>
        </p:spPr>
        <p:txBody>
          <a:bodyPr wrap="square" lIns="0" rIns="0" tIns="0" bIns="0" anchor="t">
            <a:spAutoFit/>
          </a:bodyPr>
          <a:lstStyle/>
          <a:p>
            <a:pPr algn="ctr">
              <a:lnSpc>
                <a:spcPct val="107000"/>
              </a:lnSpc>
              <a:spcBef>
                <a:spcPts val="0"/>
              </a:spcBef>
              <a:spcAft>
                <a:spcPts val="300"/>
              </a:spcAft>
            </a:pPr>
            <a:r>
              <a:rPr sz="2100" b="1">
                <a:solidFill>
                  <a:srgbClr val="0B2438"/>
                </a:solidFill>
                <a:latin typeface="Arial"/>
              </a:rPr>
              <a:t>Consult</a:t>
            </a:r>
          </a:p>
        </p:txBody>
      </p:sp>
      <p:sp>
        <p:nvSpPr>
          <p:cNvPr id="19" name="TextBox 18"/>
          <p:cNvSpPr txBox="1"/>
          <p:nvPr/>
        </p:nvSpPr>
        <p:spPr>
          <a:xfrm>
            <a:off x="2830068" y="3264408"/>
            <a:ext cx="2048256" cy="667512"/>
          </a:xfrm>
          <a:prstGeom prst="rect">
            <a:avLst/>
          </a:prstGeom>
          <a:noFill/>
        </p:spPr>
        <p:txBody>
          <a:bodyPr wrap="square" lIns="0" rIns="0" tIns="0" bIns="0" anchor="t">
            <a:spAutoFit/>
          </a:bodyPr>
          <a:lstStyle/>
          <a:p>
            <a:pPr algn="ctr">
              <a:lnSpc>
                <a:spcPct val="107000"/>
              </a:lnSpc>
              <a:spcBef>
                <a:spcPts val="0"/>
              </a:spcBef>
              <a:spcAft>
                <a:spcPts val="300"/>
              </a:spcAft>
            </a:pPr>
            <a:r>
              <a:rPr sz="1550" b="0">
                <a:solidFill>
                  <a:srgbClr val="557080"/>
                </a:solidFill>
                <a:latin typeface="Arial"/>
              </a:rPr>
              <a:t>Clinical record</a:t>
            </a:r>
          </a:p>
          <a:p>
            <a:pPr algn="ctr">
              <a:lnSpc>
                <a:spcPct val="107000"/>
              </a:lnSpc>
              <a:spcBef>
                <a:spcPts val="0"/>
              </a:spcBef>
              <a:spcAft>
                <a:spcPts val="300"/>
              </a:spcAft>
            </a:pPr>
            <a:r>
              <a:rPr sz="1550" b="0">
                <a:solidFill>
                  <a:srgbClr val="557080"/>
                </a:solidFill>
                <a:latin typeface="Arial"/>
              </a:rPr>
              <a:t>Approved orders</a:t>
            </a:r>
          </a:p>
        </p:txBody>
      </p:sp>
      <p:sp>
        <p:nvSpPr>
          <p:cNvPr id="20" name="Oval 19"/>
          <p:cNvSpPr/>
          <p:nvPr/>
        </p:nvSpPr>
        <p:spPr>
          <a:xfrm>
            <a:off x="5779007" y="2212848"/>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9007" y="2231136"/>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3</a:t>
            </a:r>
          </a:p>
        </p:txBody>
      </p:sp>
      <p:cxnSp>
        <p:nvCxnSpPr>
          <p:cNvPr id="22" name="Connector 21"/>
          <p:cNvCxnSpPr/>
          <p:nvPr/>
        </p:nvCxnSpPr>
        <p:spPr>
          <a:xfrm>
            <a:off x="6236207" y="2418588"/>
            <a:ext cx="1664209" cy="0"/>
          </a:xfrm>
          <a:prstGeom prst="line">
            <a:avLst/>
          </a:prstGeom>
          <a:ln w="21590">
            <a:solidFill>
              <a:srgbClr val="D5E1E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7488" y="2770632"/>
            <a:ext cx="2048256" cy="365760"/>
          </a:xfrm>
          <a:prstGeom prst="rect">
            <a:avLst/>
          </a:prstGeom>
          <a:noFill/>
        </p:spPr>
        <p:txBody>
          <a:bodyPr wrap="square" lIns="0" rIns="0" tIns="0" bIns="0" anchor="t">
            <a:spAutoFit/>
          </a:bodyPr>
          <a:lstStyle/>
          <a:p>
            <a:pPr algn="ctr">
              <a:lnSpc>
                <a:spcPct val="107000"/>
              </a:lnSpc>
              <a:spcBef>
                <a:spcPts val="0"/>
              </a:spcBef>
              <a:spcAft>
                <a:spcPts val="300"/>
              </a:spcAft>
            </a:pPr>
            <a:r>
              <a:rPr sz="2100" b="1">
                <a:solidFill>
                  <a:srgbClr val="0B2438"/>
                </a:solidFill>
                <a:latin typeface="Arial"/>
              </a:rPr>
              <a:t>Treat</a:t>
            </a:r>
          </a:p>
        </p:txBody>
      </p:sp>
      <p:sp>
        <p:nvSpPr>
          <p:cNvPr id="24" name="TextBox 23"/>
          <p:cNvSpPr txBox="1"/>
          <p:nvPr/>
        </p:nvSpPr>
        <p:spPr>
          <a:xfrm>
            <a:off x="5047488" y="3264408"/>
            <a:ext cx="2048256" cy="667512"/>
          </a:xfrm>
          <a:prstGeom prst="rect">
            <a:avLst/>
          </a:prstGeom>
          <a:noFill/>
        </p:spPr>
        <p:txBody>
          <a:bodyPr wrap="square" lIns="0" rIns="0" tIns="0" bIns="0" anchor="t">
            <a:spAutoFit/>
          </a:bodyPr>
          <a:lstStyle/>
          <a:p>
            <a:pPr algn="ctr">
              <a:lnSpc>
                <a:spcPct val="107000"/>
              </a:lnSpc>
              <a:spcBef>
                <a:spcPts val="0"/>
              </a:spcBef>
              <a:spcAft>
                <a:spcPts val="300"/>
              </a:spcAft>
            </a:pPr>
            <a:r>
              <a:rPr sz="1550" b="0">
                <a:solidFill>
                  <a:srgbClr val="557080"/>
                </a:solidFill>
                <a:latin typeface="Arial"/>
              </a:rPr>
              <a:t>OPD / IPD services</a:t>
            </a:r>
          </a:p>
          <a:p>
            <a:pPr algn="ctr">
              <a:lnSpc>
                <a:spcPct val="107000"/>
              </a:lnSpc>
              <a:spcBef>
                <a:spcPts val="0"/>
              </a:spcBef>
              <a:spcAft>
                <a:spcPts val="300"/>
              </a:spcAft>
            </a:pPr>
            <a:r>
              <a:rPr sz="1550" b="0">
                <a:solidFill>
                  <a:srgbClr val="557080"/>
                </a:solidFill>
                <a:latin typeface="Arial"/>
              </a:rPr>
              <a:t>Tests and procedures</a:t>
            </a:r>
          </a:p>
        </p:txBody>
      </p:sp>
      <p:sp>
        <p:nvSpPr>
          <p:cNvPr id="25" name="Oval 24"/>
          <p:cNvSpPr/>
          <p:nvPr/>
        </p:nvSpPr>
        <p:spPr>
          <a:xfrm>
            <a:off x="7996427" y="2212848"/>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96427" y="2231136"/>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4</a:t>
            </a:r>
          </a:p>
        </p:txBody>
      </p:sp>
      <p:cxnSp>
        <p:nvCxnSpPr>
          <p:cNvPr id="27" name="Connector 26"/>
          <p:cNvCxnSpPr/>
          <p:nvPr/>
        </p:nvCxnSpPr>
        <p:spPr>
          <a:xfrm>
            <a:off x="8453628" y="2418588"/>
            <a:ext cx="1664208" cy="0"/>
          </a:xfrm>
          <a:prstGeom prst="line">
            <a:avLst/>
          </a:prstGeom>
          <a:ln w="21590">
            <a:solidFill>
              <a:srgbClr val="D5E1E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264907" y="2770632"/>
            <a:ext cx="2048256" cy="365760"/>
          </a:xfrm>
          <a:prstGeom prst="rect">
            <a:avLst/>
          </a:prstGeom>
          <a:noFill/>
        </p:spPr>
        <p:txBody>
          <a:bodyPr wrap="square" lIns="0" rIns="0" tIns="0" bIns="0" anchor="t">
            <a:spAutoFit/>
          </a:bodyPr>
          <a:lstStyle/>
          <a:p>
            <a:pPr algn="ctr">
              <a:lnSpc>
                <a:spcPct val="107000"/>
              </a:lnSpc>
              <a:spcBef>
                <a:spcPts val="0"/>
              </a:spcBef>
              <a:spcAft>
                <a:spcPts val="300"/>
              </a:spcAft>
            </a:pPr>
            <a:r>
              <a:rPr sz="2100" b="1">
                <a:solidFill>
                  <a:srgbClr val="0B2438"/>
                </a:solidFill>
                <a:latin typeface="Arial"/>
              </a:rPr>
              <a:t>Dispense</a:t>
            </a:r>
          </a:p>
        </p:txBody>
      </p:sp>
      <p:sp>
        <p:nvSpPr>
          <p:cNvPr id="29" name="TextBox 28"/>
          <p:cNvSpPr txBox="1"/>
          <p:nvPr/>
        </p:nvSpPr>
        <p:spPr>
          <a:xfrm>
            <a:off x="7264907" y="3264408"/>
            <a:ext cx="2048256" cy="667512"/>
          </a:xfrm>
          <a:prstGeom prst="rect">
            <a:avLst/>
          </a:prstGeom>
          <a:noFill/>
        </p:spPr>
        <p:txBody>
          <a:bodyPr wrap="square" lIns="0" rIns="0" tIns="0" bIns="0" anchor="t">
            <a:spAutoFit/>
          </a:bodyPr>
          <a:lstStyle/>
          <a:p>
            <a:pPr algn="ctr">
              <a:lnSpc>
                <a:spcPct val="107000"/>
              </a:lnSpc>
              <a:spcBef>
                <a:spcPts val="0"/>
              </a:spcBef>
              <a:spcAft>
                <a:spcPts val="300"/>
              </a:spcAft>
            </a:pPr>
            <a:r>
              <a:rPr sz="1550" b="0">
                <a:solidFill>
                  <a:srgbClr val="557080"/>
                </a:solidFill>
                <a:latin typeface="Arial"/>
              </a:rPr>
              <a:t>Medicine issue</a:t>
            </a:r>
          </a:p>
          <a:p>
            <a:pPr algn="ctr">
              <a:lnSpc>
                <a:spcPct val="107000"/>
              </a:lnSpc>
              <a:spcBef>
                <a:spcPts val="0"/>
              </a:spcBef>
              <a:spcAft>
                <a:spcPts val="300"/>
              </a:spcAft>
            </a:pPr>
            <a:r>
              <a:rPr sz="1550" b="0">
                <a:solidFill>
                  <a:srgbClr val="557080"/>
                </a:solidFill>
                <a:latin typeface="Arial"/>
              </a:rPr>
              <a:t>Batch-linked stock</a:t>
            </a:r>
          </a:p>
        </p:txBody>
      </p:sp>
      <p:sp>
        <p:nvSpPr>
          <p:cNvPr id="30" name="Oval 29"/>
          <p:cNvSpPr/>
          <p:nvPr/>
        </p:nvSpPr>
        <p:spPr>
          <a:xfrm>
            <a:off x="10213848" y="2212848"/>
            <a:ext cx="411480" cy="411480"/>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13848" y="2231136"/>
            <a:ext cx="411480" cy="393192"/>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5</a:t>
            </a:r>
          </a:p>
        </p:txBody>
      </p:sp>
      <p:sp>
        <p:nvSpPr>
          <p:cNvPr id="32" name="TextBox 31"/>
          <p:cNvSpPr txBox="1"/>
          <p:nvPr/>
        </p:nvSpPr>
        <p:spPr>
          <a:xfrm>
            <a:off x="9482328" y="2770632"/>
            <a:ext cx="2048256" cy="365760"/>
          </a:xfrm>
          <a:prstGeom prst="rect">
            <a:avLst/>
          </a:prstGeom>
          <a:noFill/>
        </p:spPr>
        <p:txBody>
          <a:bodyPr wrap="square" lIns="0" rIns="0" tIns="0" bIns="0" anchor="t">
            <a:spAutoFit/>
          </a:bodyPr>
          <a:lstStyle/>
          <a:p>
            <a:pPr algn="ctr">
              <a:lnSpc>
                <a:spcPct val="107000"/>
              </a:lnSpc>
              <a:spcBef>
                <a:spcPts val="0"/>
              </a:spcBef>
              <a:spcAft>
                <a:spcPts val="300"/>
              </a:spcAft>
            </a:pPr>
            <a:r>
              <a:rPr sz="2100" b="1">
                <a:solidFill>
                  <a:srgbClr val="0B2438"/>
                </a:solidFill>
                <a:latin typeface="Arial"/>
              </a:rPr>
              <a:t>Bill &amp; review</a:t>
            </a:r>
          </a:p>
        </p:txBody>
      </p:sp>
      <p:sp>
        <p:nvSpPr>
          <p:cNvPr id="33" name="TextBox 32"/>
          <p:cNvSpPr txBox="1"/>
          <p:nvPr/>
        </p:nvSpPr>
        <p:spPr>
          <a:xfrm>
            <a:off x="9482328" y="3264408"/>
            <a:ext cx="2048256" cy="667512"/>
          </a:xfrm>
          <a:prstGeom prst="rect">
            <a:avLst/>
          </a:prstGeom>
          <a:noFill/>
        </p:spPr>
        <p:txBody>
          <a:bodyPr wrap="square" lIns="0" rIns="0" tIns="0" bIns="0" anchor="t">
            <a:spAutoFit/>
          </a:bodyPr>
          <a:lstStyle/>
          <a:p>
            <a:pPr algn="ctr">
              <a:lnSpc>
                <a:spcPct val="107000"/>
              </a:lnSpc>
              <a:spcBef>
                <a:spcPts val="0"/>
              </a:spcBef>
              <a:spcAft>
                <a:spcPts val="300"/>
              </a:spcAft>
            </a:pPr>
            <a:r>
              <a:rPr sz="1550" b="0">
                <a:solidFill>
                  <a:srgbClr val="557080"/>
                </a:solidFill>
                <a:latin typeface="Arial"/>
              </a:rPr>
              <a:t>Service charges</a:t>
            </a:r>
          </a:p>
          <a:p>
            <a:pPr algn="ctr">
              <a:lnSpc>
                <a:spcPct val="107000"/>
              </a:lnSpc>
              <a:spcBef>
                <a:spcPts val="0"/>
              </a:spcBef>
              <a:spcAft>
                <a:spcPts val="300"/>
              </a:spcAft>
            </a:pPr>
            <a:r>
              <a:rPr sz="1550" b="0">
                <a:solidFill>
                  <a:srgbClr val="557080"/>
                </a:solidFill>
                <a:latin typeface="Arial"/>
              </a:rPr>
              <a:t>Follow-up record</a:t>
            </a:r>
          </a:p>
        </p:txBody>
      </p:sp>
      <p:sp>
        <p:nvSpPr>
          <p:cNvPr id="34" name="Rounded Rectangle 33"/>
          <p:cNvSpPr/>
          <p:nvPr/>
        </p:nvSpPr>
        <p:spPr>
          <a:xfrm>
            <a:off x="612648" y="4279392"/>
            <a:ext cx="5367528" cy="1481328"/>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81344" y="4279392"/>
            <a:ext cx="5367528" cy="1481328"/>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 y="4498848"/>
            <a:ext cx="475488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CLINICAL OPERATIONS</a:t>
            </a:r>
          </a:p>
        </p:txBody>
      </p:sp>
      <p:sp>
        <p:nvSpPr>
          <p:cNvPr id="37" name="TextBox 36"/>
          <p:cNvSpPr txBox="1"/>
          <p:nvPr/>
        </p:nvSpPr>
        <p:spPr>
          <a:xfrm>
            <a:off x="832104" y="4800600"/>
            <a:ext cx="4828032" cy="896112"/>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IPD beds and admission / discharge.</a:t>
            </a:r>
          </a:p>
          <a:p>
            <a:pPr algn="l">
              <a:lnSpc>
                <a:spcPct val="107000"/>
              </a:lnSpc>
              <a:spcBef>
                <a:spcPts val="0"/>
              </a:spcBef>
              <a:spcAft>
                <a:spcPts val="300"/>
              </a:spcAft>
            </a:pPr>
            <a:r>
              <a:rPr sz="1600" b="0">
                <a:solidFill>
                  <a:srgbClr val="19364A"/>
                </a:solidFill>
                <a:latin typeface="Arial"/>
              </a:rPr>
              <a:t>Lab orders and procedure records.</a:t>
            </a:r>
          </a:p>
          <a:p>
            <a:pPr algn="l">
              <a:lnSpc>
                <a:spcPct val="107000"/>
              </a:lnSpc>
              <a:spcBef>
                <a:spcPts val="0"/>
              </a:spcBef>
              <a:spcAft>
                <a:spcPts val="300"/>
              </a:spcAft>
            </a:pPr>
            <a:r>
              <a:rPr sz="1600" b="0">
                <a:solidFill>
                  <a:srgbClr val="19364A"/>
                </a:solidFill>
                <a:latin typeface="Arial"/>
              </a:rPr>
              <a:t>Discharge summaries.</a:t>
            </a:r>
          </a:p>
        </p:txBody>
      </p:sp>
      <p:sp>
        <p:nvSpPr>
          <p:cNvPr id="38" name="TextBox 37"/>
          <p:cNvSpPr txBox="1"/>
          <p:nvPr/>
        </p:nvSpPr>
        <p:spPr>
          <a:xfrm>
            <a:off x="6400800" y="4498848"/>
            <a:ext cx="475488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SUPERVISED CLINICAL LEARNING</a:t>
            </a:r>
          </a:p>
        </p:txBody>
      </p:sp>
      <p:sp>
        <p:nvSpPr>
          <p:cNvPr id="39" name="TextBox 38"/>
          <p:cNvSpPr txBox="1"/>
          <p:nvPr/>
        </p:nvSpPr>
        <p:spPr>
          <a:xfrm>
            <a:off x="6400800" y="4800600"/>
            <a:ext cx="4818888" cy="896112"/>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19364A"/>
                </a:solidFill>
                <a:latin typeface="Arial"/>
              </a:rPr>
              <a:t>Student postings and permitted case exposure.</a:t>
            </a:r>
          </a:p>
          <a:p>
            <a:pPr algn="l">
              <a:lnSpc>
                <a:spcPct val="107000"/>
              </a:lnSpc>
              <a:spcBef>
                <a:spcPts val="0"/>
              </a:spcBef>
              <a:spcAft>
                <a:spcPts val="300"/>
              </a:spcAft>
            </a:pPr>
            <a:r>
              <a:rPr sz="1600" b="0">
                <a:solidFill>
                  <a:srgbClr val="19364A"/>
                </a:solidFill>
                <a:latin typeface="Arial"/>
              </a:rPr>
              <a:t>Faculty-approved clinical logbooks.</a:t>
            </a:r>
          </a:p>
          <a:p>
            <a:pPr algn="l">
              <a:lnSpc>
                <a:spcPct val="107000"/>
              </a:lnSpc>
              <a:spcBef>
                <a:spcPts val="0"/>
              </a:spcBef>
              <a:spcAft>
                <a:spcPts val="300"/>
              </a:spcAft>
            </a:pPr>
            <a:r>
              <a:rPr sz="1600" b="0">
                <a:solidFill>
                  <a:srgbClr val="19364A"/>
                </a:solidFill>
                <a:latin typeface="Arial"/>
              </a:rPr>
              <a:t>Only authorised access to patient information.</a:t>
            </a:r>
          </a:p>
        </p:txBody>
      </p:sp>
      <p:sp>
        <p:nvSpPr>
          <p:cNvPr id="40" name="TextBox 39"/>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557080"/>
                </a:solidFill>
                <a:latin typeface="Arial"/>
              </a:rPr>
              <a:t>Marley Health + ERPNext integration. Ayurveda case formats and student-learning links are custom scope; clinicians own all care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6F9FA"/>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mrg_logo.png"/>
          <p:cNvPicPr>
            <a:picLocks noChangeAspect="1"/>
          </p:cNvPicPr>
          <p:nvPr/>
        </p:nvPicPr>
        <p:blipFill>
          <a:blip r:embed="rId2"/>
          <a:stretch>
            <a:fillRect/>
          </a:stretch>
        </p:blipFill>
        <p:spPr>
          <a:xfrm>
            <a:off x="10168128" y="320040"/>
            <a:ext cx="1408176" cy="625703"/>
          </a:xfrm>
          <a:prstGeom prst="rect">
            <a:avLst/>
          </a:prstGeom>
        </p:spPr>
      </p:pic>
      <p:sp>
        <p:nvSpPr>
          <p:cNvPr id="4" name="TextBox 3"/>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AYURVEDA-SPECIFIC OPERATIONS</a:t>
            </a:r>
          </a:p>
        </p:txBody>
      </p:sp>
      <p:sp>
        <p:nvSpPr>
          <p:cNvPr id="5" name="TextBox 4"/>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0B2438"/>
                </a:solidFill>
                <a:latin typeface="Arial"/>
              </a:rPr>
              <a:t>Trace medicines. Coordinate Panchakarma.</a:t>
            </a:r>
          </a:p>
        </p:txBody>
      </p:sp>
      <p:sp>
        <p:nvSpPr>
          <p:cNvPr id="6" name="TextBox 5"/>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Connect stock, treatment resources and service records to reduce avoidable operational gaps.</a:t>
            </a:r>
          </a:p>
        </p:txBody>
      </p:sp>
      <p:cxnSp>
        <p:nvCxnSpPr>
          <p:cNvPr id="7" name="Connector 6"/>
          <p:cNvCxnSpPr/>
          <p:nvPr/>
        </p:nvCxnSpPr>
        <p:spPr>
          <a:xfrm>
            <a:off x="585216" y="6400800"/>
            <a:ext cx="11009376" cy="0"/>
          </a:xfrm>
          <a:prstGeom prst="line">
            <a:avLst/>
          </a:prstGeom>
          <a:ln w="10160">
            <a:solidFill>
              <a:srgbClr val="D5E1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557080"/>
                </a:solidFill>
                <a:latin typeface="Arial"/>
              </a:rPr>
              <a:t>PMRG SOLUTION LLP  |  AYURVEDA COLLEGE ERP</a:t>
            </a:r>
          </a:p>
        </p:txBody>
      </p:sp>
      <p:sp>
        <p:nvSpPr>
          <p:cNvPr id="9" name="TextBox 8"/>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557080"/>
                </a:solidFill>
                <a:latin typeface="Arial"/>
              </a:rPr>
              <a:t>06 / 11</a:t>
            </a:r>
          </a:p>
        </p:txBody>
      </p:sp>
      <p:sp>
        <p:nvSpPr>
          <p:cNvPr id="10" name="Rounded Rectangle 9"/>
          <p:cNvSpPr/>
          <p:nvPr/>
        </p:nvSpPr>
        <p:spPr>
          <a:xfrm>
            <a:off x="612648" y="2258568"/>
            <a:ext cx="5376672" cy="3090672"/>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1344" y="2258568"/>
            <a:ext cx="5376672" cy="3090672"/>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2505456"/>
            <a:ext cx="475488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875D9"/>
                </a:solidFill>
                <a:latin typeface="Arial"/>
              </a:rPr>
              <a:t>PHARMACY &amp; STORES</a:t>
            </a:r>
          </a:p>
        </p:txBody>
      </p:sp>
      <p:sp>
        <p:nvSpPr>
          <p:cNvPr id="13" name="TextBox 12"/>
          <p:cNvSpPr txBox="1"/>
          <p:nvPr/>
        </p:nvSpPr>
        <p:spPr>
          <a:xfrm>
            <a:off x="841248" y="2871216"/>
            <a:ext cx="4773168" cy="484632"/>
          </a:xfrm>
          <a:prstGeom prst="rect">
            <a:avLst/>
          </a:prstGeom>
          <a:noFill/>
        </p:spPr>
        <p:txBody>
          <a:bodyPr wrap="square" lIns="0" rIns="0" tIns="0" bIns="0" anchor="t">
            <a:spAutoFit/>
          </a:bodyPr>
          <a:lstStyle/>
          <a:p>
            <a:pPr algn="l">
              <a:lnSpc>
                <a:spcPct val="107000"/>
              </a:lnSpc>
              <a:spcBef>
                <a:spcPts val="0"/>
              </a:spcBef>
              <a:spcAft>
                <a:spcPts val="300"/>
              </a:spcAft>
            </a:pPr>
            <a:r>
              <a:rPr sz="2300" b="1">
                <a:solidFill>
                  <a:srgbClr val="0B2438"/>
                </a:solidFill>
                <a:latin typeface="Arial"/>
              </a:rPr>
              <a:t>From purchase to dispensing</a:t>
            </a:r>
          </a:p>
        </p:txBody>
      </p:sp>
      <p:sp>
        <p:nvSpPr>
          <p:cNvPr id="14" name="Rectangle 13"/>
          <p:cNvSpPr/>
          <p:nvPr/>
        </p:nvSpPr>
        <p:spPr>
          <a:xfrm>
            <a:off x="859536" y="3698748"/>
            <a:ext cx="41148" cy="68580"/>
          </a:xfrm>
          <a:prstGeom prst="rect">
            <a:avLst/>
          </a:prstGeom>
          <a:solidFill>
            <a:srgbClr val="0875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3602736"/>
            <a:ext cx="4507992" cy="484632"/>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19364A"/>
                </a:solidFill>
                <a:latin typeface="Arial"/>
              </a:rPr>
              <a:t>Batch-track medicines, oils and raw materials.</a:t>
            </a:r>
          </a:p>
        </p:txBody>
      </p:sp>
      <p:sp>
        <p:nvSpPr>
          <p:cNvPr id="16" name="Rectangle 15"/>
          <p:cNvSpPr/>
          <p:nvPr/>
        </p:nvSpPr>
        <p:spPr>
          <a:xfrm>
            <a:off x="859536" y="4210812"/>
            <a:ext cx="41148" cy="68580"/>
          </a:xfrm>
          <a:prstGeom prst="rect">
            <a:avLst/>
          </a:prstGeom>
          <a:solidFill>
            <a:srgbClr val="0875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14800"/>
            <a:ext cx="4507992" cy="484632"/>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19364A"/>
                </a:solidFill>
                <a:latin typeface="Arial"/>
              </a:rPr>
              <a:t>Monitor expiry, reorders and stock counts.</a:t>
            </a:r>
          </a:p>
        </p:txBody>
      </p:sp>
      <p:sp>
        <p:nvSpPr>
          <p:cNvPr id="18" name="Rectangle 17"/>
          <p:cNvSpPr/>
          <p:nvPr/>
        </p:nvSpPr>
        <p:spPr>
          <a:xfrm>
            <a:off x="859536" y="4722876"/>
            <a:ext cx="41148" cy="68580"/>
          </a:xfrm>
          <a:prstGeom prst="rect">
            <a:avLst/>
          </a:prstGeom>
          <a:solidFill>
            <a:srgbClr val="0875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1" y="4626864"/>
            <a:ext cx="4507992" cy="484632"/>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19364A"/>
                </a:solidFill>
                <a:latin typeface="Arial"/>
              </a:rPr>
              <a:t>Link dispensing and returns to billing.</a:t>
            </a:r>
          </a:p>
        </p:txBody>
      </p:sp>
      <p:sp>
        <p:nvSpPr>
          <p:cNvPr id="20" name="TextBox 19"/>
          <p:cNvSpPr txBox="1"/>
          <p:nvPr/>
        </p:nvSpPr>
        <p:spPr>
          <a:xfrm>
            <a:off x="6409944" y="2505456"/>
            <a:ext cx="475488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PANCHAKARMA WORKFLOWS</a:t>
            </a:r>
          </a:p>
        </p:txBody>
      </p:sp>
      <p:sp>
        <p:nvSpPr>
          <p:cNvPr id="21" name="TextBox 20"/>
          <p:cNvSpPr txBox="1"/>
          <p:nvPr/>
        </p:nvSpPr>
        <p:spPr>
          <a:xfrm>
            <a:off x="6409944" y="2871216"/>
            <a:ext cx="4782312" cy="484632"/>
          </a:xfrm>
          <a:prstGeom prst="rect">
            <a:avLst/>
          </a:prstGeom>
          <a:noFill/>
        </p:spPr>
        <p:txBody>
          <a:bodyPr wrap="square" lIns="0" rIns="0" tIns="0" bIns="0" anchor="t">
            <a:spAutoFit/>
          </a:bodyPr>
          <a:lstStyle/>
          <a:p>
            <a:pPr algn="l">
              <a:lnSpc>
                <a:spcPct val="107000"/>
              </a:lnSpc>
              <a:spcBef>
                <a:spcPts val="0"/>
              </a:spcBef>
              <a:spcAft>
                <a:spcPts val="300"/>
              </a:spcAft>
            </a:pPr>
            <a:r>
              <a:rPr sz="2300" b="1">
                <a:solidFill>
                  <a:srgbClr val="0B2438"/>
                </a:solidFill>
                <a:latin typeface="Arial"/>
              </a:rPr>
              <a:t>From approved plan to session</a:t>
            </a:r>
          </a:p>
        </p:txBody>
      </p:sp>
      <p:sp>
        <p:nvSpPr>
          <p:cNvPr id="22" name="Rectangle 21"/>
          <p:cNvSpPr/>
          <p:nvPr/>
        </p:nvSpPr>
        <p:spPr>
          <a:xfrm>
            <a:off x="6428232" y="3698748"/>
            <a:ext cx="41148" cy="68580"/>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1968" y="3602736"/>
            <a:ext cx="4498848" cy="484632"/>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19364A"/>
                </a:solidFill>
                <a:latin typeface="Arial"/>
              </a:rPr>
              <a:t>Book therapists, rooms and session slots.</a:t>
            </a:r>
          </a:p>
        </p:txBody>
      </p:sp>
      <p:sp>
        <p:nvSpPr>
          <p:cNvPr id="24" name="Rectangle 23"/>
          <p:cNvSpPr/>
          <p:nvPr/>
        </p:nvSpPr>
        <p:spPr>
          <a:xfrm>
            <a:off x="6428232" y="4210812"/>
            <a:ext cx="41148" cy="68580"/>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4114800"/>
            <a:ext cx="4498848" cy="484632"/>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19364A"/>
                </a:solidFill>
                <a:latin typeface="Arial"/>
              </a:rPr>
              <a:t>Record consent and session consumables.</a:t>
            </a:r>
          </a:p>
        </p:txBody>
      </p:sp>
      <p:sp>
        <p:nvSpPr>
          <p:cNvPr id="26" name="Rectangle 25"/>
          <p:cNvSpPr/>
          <p:nvPr/>
        </p:nvSpPr>
        <p:spPr>
          <a:xfrm>
            <a:off x="6428232" y="4722876"/>
            <a:ext cx="41148" cy="68580"/>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01968" y="4626864"/>
            <a:ext cx="4498848" cy="484632"/>
          </a:xfrm>
          <a:prstGeom prst="rect">
            <a:avLst/>
          </a:prstGeom>
          <a:noFill/>
        </p:spPr>
        <p:txBody>
          <a:bodyPr wrap="square" lIns="0" rIns="0" tIns="0" bIns="0" anchor="t">
            <a:spAutoFit/>
          </a:bodyPr>
          <a:lstStyle/>
          <a:p>
            <a:pPr algn="l">
              <a:lnSpc>
                <a:spcPct val="107000"/>
              </a:lnSpc>
              <a:spcBef>
                <a:spcPts val="0"/>
              </a:spcBef>
              <a:spcAft>
                <a:spcPts val="300"/>
              </a:spcAft>
            </a:pPr>
            <a:r>
              <a:rPr sz="1700" b="0">
                <a:solidFill>
                  <a:srgbClr val="19364A"/>
                </a:solidFill>
                <a:latin typeface="Arial"/>
              </a:rPr>
              <a:t>Log completion, charges and clinical review.</a:t>
            </a:r>
          </a:p>
        </p:txBody>
      </p:sp>
      <p:sp>
        <p:nvSpPr>
          <p:cNvPr id="28" name="Rounded Rectangle 27"/>
          <p:cNvSpPr/>
          <p:nvPr/>
        </p:nvSpPr>
        <p:spPr>
          <a:xfrm>
            <a:off x="612648" y="5577840"/>
            <a:ext cx="10945368" cy="393192"/>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669280"/>
            <a:ext cx="10597896" cy="228600"/>
          </a:xfrm>
          <a:prstGeom prst="rect">
            <a:avLst/>
          </a:prstGeom>
          <a:noFill/>
        </p:spPr>
        <p:txBody>
          <a:bodyPr wrap="square" lIns="0" rIns="0" tIns="0" bIns="0" anchor="t">
            <a:spAutoFit/>
          </a:bodyPr>
          <a:lstStyle/>
          <a:p>
            <a:pPr algn="l">
              <a:lnSpc>
                <a:spcPct val="107000"/>
              </a:lnSpc>
              <a:spcBef>
                <a:spcPts val="0"/>
              </a:spcBef>
              <a:spcAft>
                <a:spcPts val="300"/>
              </a:spcAft>
            </a:pPr>
            <a:r>
              <a:rPr sz="1420" b="1">
                <a:solidFill>
                  <a:srgbClr val="067F76"/>
                </a:solidFill>
                <a:latin typeface="Arial"/>
              </a:rPr>
              <a:t>Optional extensions: teaching pharmacy production  •  herbal garden register  •  museum / specimen catalogue</a:t>
            </a:r>
          </a:p>
        </p:txBody>
      </p:sp>
      <p:sp>
        <p:nvSpPr>
          <p:cNvPr id="30" name="TextBox 29"/>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557080"/>
                </a:solidFill>
                <a:latin typeface="Arial"/>
              </a:rPr>
              <a:t>Batch inventory is ERPNext scope. Panchakarma, Ayurveda resource registers and institution-specific production records require tailoring.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6F9FA"/>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mrg_logo.png"/>
          <p:cNvPicPr>
            <a:picLocks noChangeAspect="1"/>
          </p:cNvPicPr>
          <p:nvPr/>
        </p:nvPicPr>
        <p:blipFill>
          <a:blip r:embed="rId2"/>
          <a:stretch>
            <a:fillRect/>
          </a:stretch>
        </p:blipFill>
        <p:spPr>
          <a:xfrm>
            <a:off x="10168128" y="320040"/>
            <a:ext cx="1408176" cy="625703"/>
          </a:xfrm>
          <a:prstGeom prst="rect">
            <a:avLst/>
          </a:prstGeom>
        </p:spPr>
      </p:pic>
      <p:sp>
        <p:nvSpPr>
          <p:cNvPr id="4" name="TextBox 3"/>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ADMINISTRATION &amp; CAMPUS SERVICES</a:t>
            </a:r>
          </a:p>
        </p:txBody>
      </p:sp>
      <p:sp>
        <p:nvSpPr>
          <p:cNvPr id="5" name="TextBox 4"/>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0B2438"/>
                </a:solidFill>
                <a:latin typeface="Arial"/>
              </a:rPr>
              <a:t>Bring campus services under financial control</a:t>
            </a:r>
          </a:p>
        </p:txBody>
      </p:sp>
      <p:sp>
        <p:nvSpPr>
          <p:cNvPr id="6" name="TextBox 5"/>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Give departments the tools they need while keeping approvals, costs and service ownership visible.</a:t>
            </a:r>
          </a:p>
        </p:txBody>
      </p:sp>
      <p:cxnSp>
        <p:nvCxnSpPr>
          <p:cNvPr id="7" name="Connector 6"/>
          <p:cNvCxnSpPr/>
          <p:nvPr/>
        </p:nvCxnSpPr>
        <p:spPr>
          <a:xfrm>
            <a:off x="585216" y="6400800"/>
            <a:ext cx="11009376" cy="0"/>
          </a:xfrm>
          <a:prstGeom prst="line">
            <a:avLst/>
          </a:prstGeom>
          <a:ln w="10160">
            <a:solidFill>
              <a:srgbClr val="D5E1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557080"/>
                </a:solidFill>
                <a:latin typeface="Arial"/>
              </a:rPr>
              <a:t>PMRG SOLUTION LLP  |  AYURVEDA COLLEGE ERP</a:t>
            </a:r>
          </a:p>
        </p:txBody>
      </p:sp>
      <p:sp>
        <p:nvSpPr>
          <p:cNvPr id="9" name="TextBox 8"/>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557080"/>
                </a:solidFill>
                <a:latin typeface="Arial"/>
              </a:rPr>
              <a:t>07 / 11</a:t>
            </a:r>
          </a:p>
        </p:txBody>
      </p:sp>
      <p:sp>
        <p:nvSpPr>
          <p:cNvPr id="10" name="Rounded Rectangle 9"/>
          <p:cNvSpPr/>
          <p:nvPr/>
        </p:nvSpPr>
        <p:spPr>
          <a:xfrm>
            <a:off x="612648" y="2240280"/>
            <a:ext cx="3511296" cy="1664208"/>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2240280"/>
            <a:ext cx="41148" cy="1664208"/>
          </a:xfrm>
          <a:prstGeom prst="rect">
            <a:avLst/>
          </a:prstGeom>
          <a:solidFill>
            <a:srgbClr val="0875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 y="2441448"/>
            <a:ext cx="3118104" cy="384048"/>
          </a:xfrm>
          <a:prstGeom prst="rect">
            <a:avLst/>
          </a:prstGeom>
          <a:noFill/>
        </p:spPr>
        <p:txBody>
          <a:bodyPr wrap="square" lIns="0" rIns="0" tIns="0" bIns="0" anchor="t">
            <a:spAutoFit/>
          </a:bodyPr>
          <a:lstStyle/>
          <a:p>
            <a:pPr algn="l">
              <a:lnSpc>
                <a:spcPct val="107000"/>
              </a:lnSpc>
              <a:spcBef>
                <a:spcPts val="0"/>
              </a:spcBef>
              <a:spcAft>
                <a:spcPts val="300"/>
              </a:spcAft>
            </a:pPr>
            <a:r>
              <a:rPr sz="1900" b="1">
                <a:solidFill>
                  <a:srgbClr val="0B2438"/>
                </a:solidFill>
                <a:latin typeface="Arial"/>
              </a:rPr>
              <a:t>Finance &amp; collections</a:t>
            </a:r>
          </a:p>
        </p:txBody>
      </p:sp>
      <p:sp>
        <p:nvSpPr>
          <p:cNvPr id="13" name="TextBox 12"/>
          <p:cNvSpPr txBox="1"/>
          <p:nvPr/>
        </p:nvSpPr>
        <p:spPr>
          <a:xfrm>
            <a:off x="813816" y="2926080"/>
            <a:ext cx="3118104" cy="630936"/>
          </a:xfrm>
          <a:prstGeom prst="rect">
            <a:avLst/>
          </a:prstGeom>
          <a:noFill/>
        </p:spPr>
        <p:txBody>
          <a:bodyPr wrap="square" lIns="0" rIns="0" tIns="0" bIns="0" anchor="t">
            <a:spAutoFit/>
          </a:bodyPr>
          <a:lstStyle/>
          <a:p>
            <a:pPr algn="l">
              <a:lnSpc>
                <a:spcPct val="107000"/>
              </a:lnSpc>
              <a:spcBef>
                <a:spcPts val="0"/>
              </a:spcBef>
              <a:spcAft>
                <a:spcPts val="300"/>
              </a:spcAft>
            </a:pPr>
            <a:r>
              <a:rPr sz="1550" b="0">
                <a:solidFill>
                  <a:srgbClr val="557080"/>
                </a:solidFill>
                <a:latin typeface="Arial"/>
              </a:rPr>
              <a:t>Fees, receipts and budgets.</a:t>
            </a:r>
          </a:p>
          <a:p>
            <a:pPr algn="l">
              <a:lnSpc>
                <a:spcPct val="107000"/>
              </a:lnSpc>
              <a:spcBef>
                <a:spcPts val="0"/>
              </a:spcBef>
              <a:spcAft>
                <a:spcPts val="300"/>
              </a:spcAft>
            </a:pPr>
            <a:r>
              <a:rPr sz="1550" b="0">
                <a:solidFill>
                  <a:srgbClr val="557080"/>
                </a:solidFill>
                <a:latin typeface="Arial"/>
              </a:rPr>
              <a:t>Reconciliation and cost centres.</a:t>
            </a:r>
          </a:p>
        </p:txBody>
      </p:sp>
      <p:sp>
        <p:nvSpPr>
          <p:cNvPr id="14" name="TextBox 13"/>
          <p:cNvSpPr txBox="1"/>
          <p:nvPr/>
        </p:nvSpPr>
        <p:spPr>
          <a:xfrm>
            <a:off x="813816" y="3639312"/>
            <a:ext cx="3127248" cy="201168"/>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875D9"/>
                </a:solidFill>
                <a:latin typeface="Arial"/>
              </a:rPr>
              <a:t>ERPNext + Education</a:t>
            </a:r>
          </a:p>
        </p:txBody>
      </p:sp>
      <p:sp>
        <p:nvSpPr>
          <p:cNvPr id="15" name="Rounded Rectangle 14"/>
          <p:cNvSpPr/>
          <p:nvPr/>
        </p:nvSpPr>
        <p:spPr>
          <a:xfrm>
            <a:off x="4325112" y="2240280"/>
            <a:ext cx="3511296" cy="1664208"/>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25112" y="2240280"/>
            <a:ext cx="41148" cy="1664208"/>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79" y="2441448"/>
            <a:ext cx="3118104" cy="384048"/>
          </a:xfrm>
          <a:prstGeom prst="rect">
            <a:avLst/>
          </a:prstGeom>
          <a:noFill/>
        </p:spPr>
        <p:txBody>
          <a:bodyPr wrap="square" lIns="0" rIns="0" tIns="0" bIns="0" anchor="t">
            <a:spAutoFit/>
          </a:bodyPr>
          <a:lstStyle/>
          <a:p>
            <a:pPr algn="l">
              <a:lnSpc>
                <a:spcPct val="107000"/>
              </a:lnSpc>
              <a:spcBef>
                <a:spcPts val="0"/>
              </a:spcBef>
              <a:spcAft>
                <a:spcPts val="300"/>
              </a:spcAft>
            </a:pPr>
            <a:r>
              <a:rPr sz="1900" b="1">
                <a:solidFill>
                  <a:srgbClr val="0B2438"/>
                </a:solidFill>
                <a:latin typeface="Arial"/>
              </a:rPr>
              <a:t>Faculty &amp; staff</a:t>
            </a:r>
          </a:p>
        </p:txBody>
      </p:sp>
      <p:sp>
        <p:nvSpPr>
          <p:cNvPr id="18" name="TextBox 17"/>
          <p:cNvSpPr txBox="1"/>
          <p:nvPr/>
        </p:nvSpPr>
        <p:spPr>
          <a:xfrm>
            <a:off x="4526279" y="2926080"/>
            <a:ext cx="3118104" cy="630936"/>
          </a:xfrm>
          <a:prstGeom prst="rect">
            <a:avLst/>
          </a:prstGeom>
          <a:noFill/>
        </p:spPr>
        <p:txBody>
          <a:bodyPr wrap="square" lIns="0" rIns="0" tIns="0" bIns="0" anchor="t">
            <a:spAutoFit/>
          </a:bodyPr>
          <a:lstStyle/>
          <a:p>
            <a:pPr algn="l">
              <a:lnSpc>
                <a:spcPct val="107000"/>
              </a:lnSpc>
              <a:spcBef>
                <a:spcPts val="0"/>
              </a:spcBef>
              <a:spcAft>
                <a:spcPts val="300"/>
              </a:spcAft>
            </a:pPr>
            <a:r>
              <a:rPr sz="1550" b="0">
                <a:solidFill>
                  <a:srgbClr val="557080"/>
                </a:solidFill>
                <a:latin typeface="Arial"/>
              </a:rPr>
              <a:t>Staff, shifts, leave and attendance.</a:t>
            </a:r>
          </a:p>
          <a:p>
            <a:pPr algn="l">
              <a:lnSpc>
                <a:spcPct val="107000"/>
              </a:lnSpc>
              <a:spcBef>
                <a:spcPts val="0"/>
              </a:spcBef>
              <a:spcAft>
                <a:spcPts val="300"/>
              </a:spcAft>
            </a:pPr>
            <a:r>
              <a:rPr sz="1550" b="0">
                <a:solidFill>
                  <a:srgbClr val="557080"/>
                </a:solidFill>
                <a:latin typeface="Arial"/>
              </a:rPr>
              <a:t>Payroll and employee expenses.</a:t>
            </a:r>
          </a:p>
        </p:txBody>
      </p:sp>
      <p:sp>
        <p:nvSpPr>
          <p:cNvPr id="19" name="TextBox 18"/>
          <p:cNvSpPr txBox="1"/>
          <p:nvPr/>
        </p:nvSpPr>
        <p:spPr>
          <a:xfrm>
            <a:off x="4526279" y="3639312"/>
            <a:ext cx="3127248" cy="201168"/>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67F76"/>
                </a:solidFill>
                <a:latin typeface="Arial"/>
              </a:rPr>
              <a:t>Frappe HR + configuration</a:t>
            </a:r>
          </a:p>
        </p:txBody>
      </p:sp>
      <p:sp>
        <p:nvSpPr>
          <p:cNvPr id="20" name="Rounded Rectangle 19"/>
          <p:cNvSpPr/>
          <p:nvPr/>
        </p:nvSpPr>
        <p:spPr>
          <a:xfrm>
            <a:off x="8037575" y="2240280"/>
            <a:ext cx="3511296" cy="1664208"/>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37575" y="2240280"/>
            <a:ext cx="41148" cy="1664208"/>
          </a:xfrm>
          <a:prstGeom prst="rect">
            <a:avLst/>
          </a:prstGeom>
          <a:solidFill>
            <a:srgbClr val="0875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2441448"/>
            <a:ext cx="3118104" cy="384048"/>
          </a:xfrm>
          <a:prstGeom prst="rect">
            <a:avLst/>
          </a:prstGeom>
          <a:noFill/>
        </p:spPr>
        <p:txBody>
          <a:bodyPr wrap="square" lIns="0" rIns="0" tIns="0" bIns="0" anchor="t">
            <a:spAutoFit/>
          </a:bodyPr>
          <a:lstStyle/>
          <a:p>
            <a:pPr algn="l">
              <a:lnSpc>
                <a:spcPct val="107000"/>
              </a:lnSpc>
              <a:spcBef>
                <a:spcPts val="0"/>
              </a:spcBef>
              <a:spcAft>
                <a:spcPts val="300"/>
              </a:spcAft>
            </a:pPr>
            <a:r>
              <a:rPr sz="1900" b="1">
                <a:solidFill>
                  <a:srgbClr val="0B2438"/>
                </a:solidFill>
                <a:latin typeface="Arial"/>
              </a:rPr>
              <a:t>Procurement &amp; assets</a:t>
            </a:r>
          </a:p>
        </p:txBody>
      </p:sp>
      <p:sp>
        <p:nvSpPr>
          <p:cNvPr id="23" name="TextBox 22"/>
          <p:cNvSpPr txBox="1"/>
          <p:nvPr/>
        </p:nvSpPr>
        <p:spPr>
          <a:xfrm>
            <a:off x="8238744" y="2926080"/>
            <a:ext cx="3118104" cy="630936"/>
          </a:xfrm>
          <a:prstGeom prst="rect">
            <a:avLst/>
          </a:prstGeom>
          <a:noFill/>
        </p:spPr>
        <p:txBody>
          <a:bodyPr wrap="square" lIns="0" rIns="0" tIns="0" bIns="0" anchor="t">
            <a:spAutoFit/>
          </a:bodyPr>
          <a:lstStyle/>
          <a:p>
            <a:pPr algn="l">
              <a:lnSpc>
                <a:spcPct val="107000"/>
              </a:lnSpc>
              <a:spcBef>
                <a:spcPts val="0"/>
              </a:spcBef>
              <a:spcAft>
                <a:spcPts val="300"/>
              </a:spcAft>
            </a:pPr>
            <a:r>
              <a:rPr sz="1550" b="0">
                <a:solidFill>
                  <a:srgbClr val="557080"/>
                </a:solidFill>
                <a:latin typeface="Arial"/>
              </a:rPr>
              <a:t>Purchase and supplier approvals.</a:t>
            </a:r>
          </a:p>
          <a:p>
            <a:pPr algn="l">
              <a:lnSpc>
                <a:spcPct val="107000"/>
              </a:lnSpc>
              <a:spcBef>
                <a:spcPts val="0"/>
              </a:spcBef>
              <a:spcAft>
                <a:spcPts val="300"/>
              </a:spcAft>
            </a:pPr>
            <a:r>
              <a:rPr sz="1550" b="0">
                <a:solidFill>
                  <a:srgbClr val="557080"/>
                </a:solidFill>
                <a:latin typeface="Arial"/>
              </a:rPr>
              <a:t>Equipment and maintenance.</a:t>
            </a:r>
          </a:p>
        </p:txBody>
      </p:sp>
      <p:sp>
        <p:nvSpPr>
          <p:cNvPr id="24" name="TextBox 23"/>
          <p:cNvSpPr txBox="1"/>
          <p:nvPr/>
        </p:nvSpPr>
        <p:spPr>
          <a:xfrm>
            <a:off x="8238744" y="3639312"/>
            <a:ext cx="3127248" cy="201168"/>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875D9"/>
                </a:solidFill>
                <a:latin typeface="Arial"/>
              </a:rPr>
              <a:t>ERPNext + configuration</a:t>
            </a:r>
          </a:p>
        </p:txBody>
      </p:sp>
      <p:sp>
        <p:nvSpPr>
          <p:cNvPr id="25" name="Rounded Rectangle 24"/>
          <p:cNvSpPr/>
          <p:nvPr/>
        </p:nvSpPr>
        <p:spPr>
          <a:xfrm>
            <a:off x="612648" y="4078224"/>
            <a:ext cx="3511296" cy="1664208"/>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4078224"/>
            <a:ext cx="41148" cy="1664208"/>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 y="4279392"/>
            <a:ext cx="3118104" cy="384048"/>
          </a:xfrm>
          <a:prstGeom prst="rect">
            <a:avLst/>
          </a:prstGeom>
          <a:noFill/>
        </p:spPr>
        <p:txBody>
          <a:bodyPr wrap="square" lIns="0" rIns="0" tIns="0" bIns="0" anchor="t">
            <a:spAutoFit/>
          </a:bodyPr>
          <a:lstStyle/>
          <a:p>
            <a:pPr algn="l">
              <a:lnSpc>
                <a:spcPct val="107000"/>
              </a:lnSpc>
              <a:spcBef>
                <a:spcPts val="0"/>
              </a:spcBef>
              <a:spcAft>
                <a:spcPts val="300"/>
              </a:spcAft>
            </a:pPr>
            <a:r>
              <a:rPr sz="1900" b="1">
                <a:solidFill>
                  <a:srgbClr val="0B2438"/>
                </a:solidFill>
                <a:latin typeface="Arial"/>
              </a:rPr>
              <a:t>Student services</a:t>
            </a:r>
          </a:p>
        </p:txBody>
      </p:sp>
      <p:sp>
        <p:nvSpPr>
          <p:cNvPr id="28" name="TextBox 27"/>
          <p:cNvSpPr txBox="1"/>
          <p:nvPr/>
        </p:nvSpPr>
        <p:spPr>
          <a:xfrm>
            <a:off x="813816" y="4764024"/>
            <a:ext cx="3118104" cy="630936"/>
          </a:xfrm>
          <a:prstGeom prst="rect">
            <a:avLst/>
          </a:prstGeom>
          <a:noFill/>
        </p:spPr>
        <p:txBody>
          <a:bodyPr wrap="square" lIns="0" rIns="0" tIns="0" bIns="0" anchor="t">
            <a:spAutoFit/>
          </a:bodyPr>
          <a:lstStyle/>
          <a:p>
            <a:pPr algn="l">
              <a:lnSpc>
                <a:spcPct val="107000"/>
              </a:lnSpc>
              <a:spcBef>
                <a:spcPts val="0"/>
              </a:spcBef>
              <a:spcAft>
                <a:spcPts val="300"/>
              </a:spcAft>
            </a:pPr>
            <a:r>
              <a:rPr sz="1550" b="0">
                <a:solidFill>
                  <a:srgbClr val="557080"/>
                </a:solidFill>
                <a:latin typeface="Arial"/>
              </a:rPr>
              <a:t>Hostel, mess and transport.</a:t>
            </a:r>
          </a:p>
          <a:p>
            <a:pPr algn="l">
              <a:lnSpc>
                <a:spcPct val="107000"/>
              </a:lnSpc>
              <a:spcBef>
                <a:spcPts val="0"/>
              </a:spcBef>
              <a:spcAft>
                <a:spcPts val="300"/>
              </a:spcAft>
            </a:pPr>
            <a:r>
              <a:rPr sz="1550" b="0">
                <a:solidFill>
                  <a:srgbClr val="557080"/>
                </a:solidFill>
                <a:latin typeface="Arial"/>
              </a:rPr>
              <a:t>Service requests and grievances.</a:t>
            </a:r>
          </a:p>
        </p:txBody>
      </p:sp>
      <p:sp>
        <p:nvSpPr>
          <p:cNvPr id="29" name="TextBox 28"/>
          <p:cNvSpPr txBox="1"/>
          <p:nvPr/>
        </p:nvSpPr>
        <p:spPr>
          <a:xfrm>
            <a:off x="813816" y="5477256"/>
            <a:ext cx="3127248" cy="201168"/>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67F76"/>
                </a:solidFill>
                <a:latin typeface="Arial"/>
              </a:rPr>
              <a:t>PMRG custom / integrated scope</a:t>
            </a:r>
          </a:p>
        </p:txBody>
      </p:sp>
      <p:sp>
        <p:nvSpPr>
          <p:cNvPr id="30" name="Rounded Rectangle 29"/>
          <p:cNvSpPr/>
          <p:nvPr/>
        </p:nvSpPr>
        <p:spPr>
          <a:xfrm>
            <a:off x="4325112" y="4078224"/>
            <a:ext cx="3511296" cy="1664208"/>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25112" y="4078224"/>
            <a:ext cx="41148" cy="1664208"/>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79" y="4279392"/>
            <a:ext cx="3118104" cy="384048"/>
          </a:xfrm>
          <a:prstGeom prst="rect">
            <a:avLst/>
          </a:prstGeom>
          <a:noFill/>
        </p:spPr>
        <p:txBody>
          <a:bodyPr wrap="square" lIns="0" rIns="0" tIns="0" bIns="0" anchor="t">
            <a:spAutoFit/>
          </a:bodyPr>
          <a:lstStyle/>
          <a:p>
            <a:pPr algn="l">
              <a:lnSpc>
                <a:spcPct val="107000"/>
              </a:lnSpc>
              <a:spcBef>
                <a:spcPts val="0"/>
              </a:spcBef>
              <a:spcAft>
                <a:spcPts val="300"/>
              </a:spcAft>
            </a:pPr>
            <a:r>
              <a:rPr sz="1900" b="1">
                <a:solidFill>
                  <a:srgbClr val="0B2438"/>
                </a:solidFill>
                <a:latin typeface="Arial"/>
              </a:rPr>
              <a:t>Library &amp; learning</a:t>
            </a:r>
          </a:p>
        </p:txBody>
      </p:sp>
      <p:sp>
        <p:nvSpPr>
          <p:cNvPr id="33" name="TextBox 32"/>
          <p:cNvSpPr txBox="1"/>
          <p:nvPr/>
        </p:nvSpPr>
        <p:spPr>
          <a:xfrm>
            <a:off x="4526279" y="4764024"/>
            <a:ext cx="3118104" cy="630936"/>
          </a:xfrm>
          <a:prstGeom prst="rect">
            <a:avLst/>
          </a:prstGeom>
          <a:noFill/>
        </p:spPr>
        <p:txBody>
          <a:bodyPr wrap="square" lIns="0" rIns="0" tIns="0" bIns="0" anchor="t">
            <a:spAutoFit/>
          </a:bodyPr>
          <a:lstStyle/>
          <a:p>
            <a:pPr algn="l">
              <a:lnSpc>
                <a:spcPct val="107000"/>
              </a:lnSpc>
              <a:spcBef>
                <a:spcPts val="0"/>
              </a:spcBef>
              <a:spcAft>
                <a:spcPts val="300"/>
              </a:spcAft>
            </a:pPr>
            <a:r>
              <a:rPr sz="1550" b="0">
                <a:solidFill>
                  <a:srgbClr val="557080"/>
                </a:solidFill>
                <a:latin typeface="Arial"/>
              </a:rPr>
              <a:t>Books and digital resources.</a:t>
            </a:r>
          </a:p>
          <a:p>
            <a:pPr algn="l">
              <a:lnSpc>
                <a:spcPct val="107000"/>
              </a:lnSpc>
              <a:spcBef>
                <a:spcPts val="0"/>
              </a:spcBef>
              <a:spcAft>
                <a:spcPts val="300"/>
              </a:spcAft>
            </a:pPr>
            <a:r>
              <a:rPr sz="1550" b="0">
                <a:solidFill>
                  <a:srgbClr val="557080"/>
                </a:solidFill>
                <a:latin typeface="Arial"/>
              </a:rPr>
              <a:t>Learning content and assessments.</a:t>
            </a:r>
          </a:p>
        </p:txBody>
      </p:sp>
      <p:sp>
        <p:nvSpPr>
          <p:cNvPr id="34" name="TextBox 33"/>
          <p:cNvSpPr txBox="1"/>
          <p:nvPr/>
        </p:nvSpPr>
        <p:spPr>
          <a:xfrm>
            <a:off x="4526279" y="5477256"/>
            <a:ext cx="3127248" cy="201168"/>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67F76"/>
                </a:solidFill>
                <a:latin typeface="Arial"/>
              </a:rPr>
              <a:t>Existing library / LMS integration</a:t>
            </a:r>
          </a:p>
        </p:txBody>
      </p:sp>
      <p:sp>
        <p:nvSpPr>
          <p:cNvPr id="35" name="Rounded Rectangle 34"/>
          <p:cNvSpPr/>
          <p:nvPr/>
        </p:nvSpPr>
        <p:spPr>
          <a:xfrm>
            <a:off x="8037575" y="4078224"/>
            <a:ext cx="3511296" cy="1664208"/>
          </a:xfrm>
          <a:prstGeom prst="roundRect">
            <a:avLst>
              <a:gd name="adj" fmla="val 10000"/>
            </a:avLst>
          </a:prstGeom>
          <a:solidFill>
            <a:srgbClr val="FFFFFF"/>
          </a:solidFill>
          <a:ln w="8890">
            <a:solidFill>
              <a:srgbClr val="D5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37575" y="4078224"/>
            <a:ext cx="41148" cy="1664208"/>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38744" y="4279392"/>
            <a:ext cx="3118104" cy="384048"/>
          </a:xfrm>
          <a:prstGeom prst="rect">
            <a:avLst/>
          </a:prstGeom>
          <a:noFill/>
        </p:spPr>
        <p:txBody>
          <a:bodyPr wrap="square" lIns="0" rIns="0" tIns="0" bIns="0" anchor="t">
            <a:spAutoFit/>
          </a:bodyPr>
          <a:lstStyle/>
          <a:p>
            <a:pPr algn="l">
              <a:lnSpc>
                <a:spcPct val="107000"/>
              </a:lnSpc>
              <a:spcBef>
                <a:spcPts val="0"/>
              </a:spcBef>
              <a:spcAft>
                <a:spcPts val="300"/>
              </a:spcAft>
            </a:pPr>
            <a:r>
              <a:rPr sz="1900" b="1">
                <a:solidFill>
                  <a:srgbClr val="0B2438"/>
                </a:solidFill>
                <a:latin typeface="Arial"/>
              </a:rPr>
              <a:t>Research &amp; outreach</a:t>
            </a:r>
          </a:p>
        </p:txBody>
      </p:sp>
      <p:sp>
        <p:nvSpPr>
          <p:cNvPr id="38" name="TextBox 37"/>
          <p:cNvSpPr txBox="1"/>
          <p:nvPr/>
        </p:nvSpPr>
        <p:spPr>
          <a:xfrm>
            <a:off x="8238744" y="4764024"/>
            <a:ext cx="3118104" cy="630936"/>
          </a:xfrm>
          <a:prstGeom prst="rect">
            <a:avLst/>
          </a:prstGeom>
          <a:noFill/>
        </p:spPr>
        <p:txBody>
          <a:bodyPr wrap="square" lIns="0" rIns="0" tIns="0" bIns="0" anchor="t">
            <a:spAutoFit/>
          </a:bodyPr>
          <a:lstStyle/>
          <a:p>
            <a:pPr algn="l">
              <a:lnSpc>
                <a:spcPct val="107000"/>
              </a:lnSpc>
              <a:spcBef>
                <a:spcPts val="0"/>
              </a:spcBef>
              <a:spcAft>
                <a:spcPts val="300"/>
              </a:spcAft>
            </a:pPr>
            <a:r>
              <a:rPr sz="1550" b="0">
                <a:solidFill>
                  <a:srgbClr val="557080"/>
                </a:solidFill>
                <a:latin typeface="Arial"/>
              </a:rPr>
              <a:t>Research and ethics registers.</a:t>
            </a:r>
          </a:p>
          <a:p>
            <a:pPr algn="l">
              <a:lnSpc>
                <a:spcPct val="107000"/>
              </a:lnSpc>
              <a:spcBef>
                <a:spcPts val="0"/>
              </a:spcBef>
              <a:spcAft>
                <a:spcPts val="300"/>
              </a:spcAft>
            </a:pPr>
            <a:r>
              <a:rPr sz="1550" b="0">
                <a:solidFill>
                  <a:srgbClr val="557080"/>
                </a:solidFill>
                <a:latin typeface="Arial"/>
              </a:rPr>
              <a:t>Budgets and outreach records.</a:t>
            </a:r>
          </a:p>
        </p:txBody>
      </p:sp>
      <p:sp>
        <p:nvSpPr>
          <p:cNvPr id="39" name="TextBox 38"/>
          <p:cNvSpPr txBox="1"/>
          <p:nvPr/>
        </p:nvSpPr>
        <p:spPr>
          <a:xfrm>
            <a:off x="8238744" y="5477256"/>
            <a:ext cx="3127248" cy="201168"/>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067F76"/>
                </a:solidFill>
                <a:latin typeface="Arial"/>
              </a:rPr>
              <a:t>PMRG custom / integrated scope</a:t>
            </a:r>
          </a:p>
        </p:txBody>
      </p:sp>
      <p:sp>
        <p:nvSpPr>
          <p:cNvPr id="40" name="TextBox 39"/>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557080"/>
                </a:solidFill>
                <a:latin typeface="Arial"/>
              </a:rPr>
              <a:t>Campus services, learning tools and research records are scoped around existing systems; specialist approvals remain with the college.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B2438"/>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85832" y="256032"/>
            <a:ext cx="1572768" cy="74066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mrg_logo.png"/>
          <p:cNvPicPr>
            <a:picLocks noChangeAspect="1"/>
          </p:cNvPicPr>
          <p:nvPr/>
        </p:nvPicPr>
        <p:blipFill>
          <a:blip r:embed="rId2"/>
          <a:stretch>
            <a:fillRect/>
          </a:stretch>
        </p:blipFill>
        <p:spPr>
          <a:xfrm>
            <a:off x="10168128" y="320040"/>
            <a:ext cx="1408176" cy="625703"/>
          </a:xfrm>
          <a:prstGeom prst="rect">
            <a:avLst/>
          </a:prstGeom>
        </p:spPr>
      </p:pic>
      <p:sp>
        <p:nvSpPr>
          <p:cNvPr id="5" name="TextBox 4"/>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77CFB3"/>
                </a:solidFill>
                <a:latin typeface="Arial"/>
              </a:rPr>
              <a:t>AI ASSISTANCE &amp; INSTITUTIONAL GOVERNANCE</a:t>
            </a:r>
          </a:p>
        </p:txBody>
      </p:sp>
      <p:sp>
        <p:nvSpPr>
          <p:cNvPr id="6" name="TextBox 5"/>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FFFFFF"/>
                </a:solidFill>
                <a:latin typeface="Arial"/>
              </a:rPr>
              <a:t>Helpful automation. Accountable decisions.</a:t>
            </a:r>
          </a:p>
        </p:txBody>
      </p:sp>
      <p:sp>
        <p:nvSpPr>
          <p:cNvPr id="7" name="TextBox 6"/>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B8CDD8"/>
                </a:solidFill>
                <a:latin typeface="Arial"/>
              </a:rPr>
              <a:t>Make routine work easier while preserving staff ownership, privacy and a reliable trail of evidence.</a:t>
            </a:r>
          </a:p>
        </p:txBody>
      </p:sp>
      <p:cxnSp>
        <p:nvCxnSpPr>
          <p:cNvPr id="8" name="Connector 7"/>
          <p:cNvCxnSpPr/>
          <p:nvPr/>
        </p:nvCxnSpPr>
        <p:spPr>
          <a:xfrm>
            <a:off x="585216" y="6400800"/>
            <a:ext cx="11009376" cy="0"/>
          </a:xfrm>
          <a:prstGeom prst="line">
            <a:avLst/>
          </a:prstGeom>
          <a:ln w="10160">
            <a:solidFill>
              <a:srgbClr val="25465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B8CDD8"/>
                </a:solidFill>
                <a:latin typeface="Arial"/>
              </a:rPr>
              <a:t>PMRG SOLUTION LLP  |  AYURVEDA COLLEGE ERP</a:t>
            </a:r>
          </a:p>
        </p:txBody>
      </p:sp>
      <p:sp>
        <p:nvSpPr>
          <p:cNvPr id="10" name="TextBox 9"/>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B8CDD8"/>
                </a:solidFill>
                <a:latin typeface="Arial"/>
              </a:rPr>
              <a:t>08 / 11</a:t>
            </a:r>
          </a:p>
        </p:txBody>
      </p:sp>
      <p:sp>
        <p:nvSpPr>
          <p:cNvPr id="11" name="Rounded Rectangle 10"/>
          <p:cNvSpPr/>
          <p:nvPr/>
        </p:nvSpPr>
        <p:spPr>
          <a:xfrm>
            <a:off x="612648" y="2249424"/>
            <a:ext cx="3511296" cy="2734056"/>
          </a:xfrm>
          <a:prstGeom prst="roundRect">
            <a:avLst>
              <a:gd name="adj" fmla="val 10000"/>
            </a:avLst>
          </a:prstGeom>
          <a:solidFill>
            <a:srgbClr val="113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2249424"/>
            <a:ext cx="45720" cy="2734056"/>
          </a:xfrm>
          <a:prstGeom prst="rect">
            <a:avLst/>
          </a:prstGeom>
          <a:solidFill>
            <a:srgbClr val="77C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441448"/>
            <a:ext cx="3090672" cy="228600"/>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77CFB3"/>
                </a:solidFill>
                <a:latin typeface="Arial"/>
              </a:rPr>
              <a:t>OPTIONAL PMRG AI SCOPE</a:t>
            </a:r>
          </a:p>
        </p:txBody>
      </p:sp>
      <p:sp>
        <p:nvSpPr>
          <p:cNvPr id="14" name="TextBox 13"/>
          <p:cNvSpPr txBox="1"/>
          <p:nvPr/>
        </p:nvSpPr>
        <p:spPr>
          <a:xfrm>
            <a:off x="822960" y="2752344"/>
            <a:ext cx="3090672" cy="548640"/>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FFFFFF"/>
                </a:solidFill>
                <a:latin typeface="Arial"/>
              </a:rPr>
              <a:t>Assist routine work</a:t>
            </a:r>
          </a:p>
        </p:txBody>
      </p:sp>
      <p:sp>
        <p:nvSpPr>
          <p:cNvPr id="15" name="TextBox 14"/>
          <p:cNvSpPr txBox="1"/>
          <p:nvPr/>
        </p:nvSpPr>
        <p:spPr>
          <a:xfrm>
            <a:off x="822960" y="3438144"/>
            <a:ext cx="3090672" cy="1435608"/>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B8CDD8"/>
                </a:solidFill>
                <a:latin typeface="Arial"/>
              </a:rPr>
              <a:t>Review draft document data.</a:t>
            </a:r>
          </a:p>
          <a:p>
            <a:pPr algn="l">
              <a:lnSpc>
                <a:spcPct val="107000"/>
              </a:lnSpc>
              <a:spcBef>
                <a:spcPts val="0"/>
              </a:spcBef>
              <a:spcAft>
                <a:spcPts val="300"/>
              </a:spcAft>
            </a:pPr>
            <a:r>
              <a:rPr sz="1650" b="0">
                <a:solidFill>
                  <a:srgbClr val="B8CDD8"/>
                </a:solidFill>
                <a:latin typeface="Arial"/>
              </a:rPr>
              <a:t>Answer approved-policy FAQs.</a:t>
            </a:r>
          </a:p>
          <a:p>
            <a:pPr algn="l">
              <a:lnSpc>
                <a:spcPct val="107000"/>
              </a:lnSpc>
              <a:spcBef>
                <a:spcPts val="0"/>
              </a:spcBef>
              <a:spcAft>
                <a:spcPts val="300"/>
              </a:spcAft>
            </a:pPr>
            <a:r>
              <a:rPr sz="1650" b="0">
                <a:solidFill>
                  <a:srgbClr val="B8CDD8"/>
                </a:solidFill>
                <a:latin typeface="Arial"/>
              </a:rPr>
              <a:t>Flag operational exceptions.</a:t>
            </a:r>
          </a:p>
        </p:txBody>
      </p:sp>
      <p:sp>
        <p:nvSpPr>
          <p:cNvPr id="16" name="Rounded Rectangle 15"/>
          <p:cNvSpPr/>
          <p:nvPr/>
        </p:nvSpPr>
        <p:spPr>
          <a:xfrm>
            <a:off x="4325112" y="2249424"/>
            <a:ext cx="3511296" cy="2734056"/>
          </a:xfrm>
          <a:prstGeom prst="roundRect">
            <a:avLst>
              <a:gd name="adj" fmla="val 10000"/>
            </a:avLst>
          </a:prstGeom>
          <a:solidFill>
            <a:srgbClr val="113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5112" y="2249424"/>
            <a:ext cx="45720" cy="2734056"/>
          </a:xfrm>
          <a:prstGeom prst="rect">
            <a:avLst/>
          </a:prstGeom>
          <a:solidFill>
            <a:srgbClr val="77C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2441448"/>
            <a:ext cx="3090672" cy="228600"/>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77CFB3"/>
                </a:solidFill>
                <a:latin typeface="Arial"/>
              </a:rPr>
              <a:t>NCISM / UNIVERSITY PREPARATION</a:t>
            </a:r>
          </a:p>
        </p:txBody>
      </p:sp>
      <p:sp>
        <p:nvSpPr>
          <p:cNvPr id="19" name="TextBox 18"/>
          <p:cNvSpPr txBox="1"/>
          <p:nvPr/>
        </p:nvSpPr>
        <p:spPr>
          <a:xfrm>
            <a:off x="4535424" y="2752344"/>
            <a:ext cx="3090672" cy="548640"/>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FFFFFF"/>
                </a:solidFill>
                <a:latin typeface="Arial"/>
              </a:rPr>
              <a:t>Prepare evidence</a:t>
            </a:r>
          </a:p>
        </p:txBody>
      </p:sp>
      <p:sp>
        <p:nvSpPr>
          <p:cNvPr id="20" name="TextBox 19"/>
          <p:cNvSpPr txBox="1"/>
          <p:nvPr/>
        </p:nvSpPr>
        <p:spPr>
          <a:xfrm>
            <a:off x="4535424" y="3438144"/>
            <a:ext cx="3090672" cy="1435608"/>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B8CDD8"/>
                </a:solidFill>
                <a:latin typeface="Arial"/>
              </a:rPr>
              <a:t>Index institutional records.</a:t>
            </a:r>
          </a:p>
          <a:p>
            <a:pPr algn="l">
              <a:lnSpc>
                <a:spcPct val="107000"/>
              </a:lnSpc>
              <a:spcBef>
                <a:spcPts val="0"/>
              </a:spcBef>
              <a:spcAft>
                <a:spcPts val="300"/>
              </a:spcAft>
            </a:pPr>
            <a:r>
              <a:rPr sz="1650" b="0">
                <a:solidFill>
                  <a:srgbClr val="B8CDD8"/>
                </a:solidFill>
                <a:latin typeface="Arial"/>
              </a:rPr>
              <a:t>Summarise hospital activity.</a:t>
            </a:r>
          </a:p>
          <a:p>
            <a:pPr algn="l">
              <a:lnSpc>
                <a:spcPct val="107000"/>
              </a:lnSpc>
              <a:spcBef>
                <a:spcPts val="0"/>
              </a:spcBef>
              <a:spcAft>
                <a:spcPts val="300"/>
              </a:spcAft>
            </a:pPr>
            <a:r>
              <a:rPr sz="1650" b="0">
                <a:solidFill>
                  <a:srgbClr val="B8CDD8"/>
                </a:solidFill>
                <a:latin typeface="Arial"/>
              </a:rPr>
              <a:t>Build approved evidence packs.</a:t>
            </a:r>
          </a:p>
        </p:txBody>
      </p:sp>
      <p:sp>
        <p:nvSpPr>
          <p:cNvPr id="21" name="Rounded Rectangle 20"/>
          <p:cNvSpPr/>
          <p:nvPr/>
        </p:nvSpPr>
        <p:spPr>
          <a:xfrm>
            <a:off x="8037575" y="2249424"/>
            <a:ext cx="3511296" cy="2734056"/>
          </a:xfrm>
          <a:prstGeom prst="roundRect">
            <a:avLst>
              <a:gd name="adj" fmla="val 10000"/>
            </a:avLst>
          </a:prstGeom>
          <a:solidFill>
            <a:srgbClr val="113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37575" y="2249424"/>
            <a:ext cx="45720" cy="2734056"/>
          </a:xfrm>
          <a:prstGeom prst="rect">
            <a:avLst/>
          </a:prstGeom>
          <a:solidFill>
            <a:srgbClr val="77C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7888" y="2441448"/>
            <a:ext cx="3090672" cy="228600"/>
          </a:xfrm>
          <a:prstGeom prst="rect">
            <a:avLst/>
          </a:prstGeom>
          <a:noFill/>
        </p:spPr>
        <p:txBody>
          <a:bodyPr wrap="square" lIns="0" rIns="0" tIns="0" bIns="0" anchor="t">
            <a:spAutoFit/>
          </a:bodyPr>
          <a:lstStyle/>
          <a:p>
            <a:pPr algn="l">
              <a:lnSpc>
                <a:spcPct val="107000"/>
              </a:lnSpc>
              <a:spcBef>
                <a:spcPts val="0"/>
              </a:spcBef>
              <a:spcAft>
                <a:spcPts val="300"/>
              </a:spcAft>
            </a:pPr>
            <a:r>
              <a:rPr sz="1000" b="1">
                <a:solidFill>
                  <a:srgbClr val="77CFB3"/>
                </a:solidFill>
                <a:latin typeface="Arial"/>
              </a:rPr>
              <a:t>CONTROLS CONFIGURED IN DELIVERY</a:t>
            </a:r>
          </a:p>
        </p:txBody>
      </p:sp>
      <p:sp>
        <p:nvSpPr>
          <p:cNvPr id="24" name="TextBox 23"/>
          <p:cNvSpPr txBox="1"/>
          <p:nvPr/>
        </p:nvSpPr>
        <p:spPr>
          <a:xfrm>
            <a:off x="8247888" y="2752344"/>
            <a:ext cx="3090672" cy="548640"/>
          </a:xfrm>
          <a:prstGeom prst="rect">
            <a:avLst/>
          </a:prstGeom>
          <a:noFill/>
        </p:spPr>
        <p:txBody>
          <a:bodyPr wrap="square" lIns="0" rIns="0" tIns="0" bIns="0" anchor="t">
            <a:spAutoFit/>
          </a:bodyPr>
          <a:lstStyle/>
          <a:p>
            <a:pPr algn="l">
              <a:lnSpc>
                <a:spcPct val="107000"/>
              </a:lnSpc>
              <a:spcBef>
                <a:spcPts val="0"/>
              </a:spcBef>
              <a:spcAft>
                <a:spcPts val="300"/>
              </a:spcAft>
            </a:pPr>
            <a:r>
              <a:rPr sz="2100" b="1">
                <a:solidFill>
                  <a:srgbClr val="FFFFFF"/>
                </a:solidFill>
                <a:latin typeface="Arial"/>
              </a:rPr>
              <a:t>Protect records</a:t>
            </a:r>
          </a:p>
        </p:txBody>
      </p:sp>
      <p:sp>
        <p:nvSpPr>
          <p:cNvPr id="25" name="TextBox 24"/>
          <p:cNvSpPr txBox="1"/>
          <p:nvPr/>
        </p:nvSpPr>
        <p:spPr>
          <a:xfrm>
            <a:off x="8247888" y="3438144"/>
            <a:ext cx="3090672" cy="1435608"/>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B8CDD8"/>
                </a:solidFill>
                <a:latin typeface="Arial"/>
              </a:rPr>
              <a:t>Define role-based access.</a:t>
            </a:r>
          </a:p>
          <a:p>
            <a:pPr algn="l">
              <a:lnSpc>
                <a:spcPct val="107000"/>
              </a:lnSpc>
              <a:spcBef>
                <a:spcPts val="0"/>
              </a:spcBef>
              <a:spcAft>
                <a:spcPts val="300"/>
              </a:spcAft>
            </a:pPr>
            <a:r>
              <a:rPr sz="1650" b="0">
                <a:solidFill>
                  <a:srgbClr val="B8CDD8"/>
                </a:solidFill>
                <a:latin typeface="Arial"/>
              </a:rPr>
              <a:t>Log changes and approvals.</a:t>
            </a:r>
          </a:p>
          <a:p>
            <a:pPr algn="l">
              <a:lnSpc>
                <a:spcPct val="107000"/>
              </a:lnSpc>
              <a:spcBef>
                <a:spcPts val="0"/>
              </a:spcBef>
              <a:spcAft>
                <a:spcPts val="300"/>
              </a:spcAft>
            </a:pPr>
            <a:r>
              <a:rPr sz="1650" b="0">
                <a:solidFill>
                  <a:srgbClr val="B8CDD8"/>
                </a:solidFill>
                <a:latin typeface="Arial"/>
              </a:rPr>
              <a:t>Agree retention and recovery.</a:t>
            </a:r>
          </a:p>
        </p:txBody>
      </p:sp>
      <p:sp>
        <p:nvSpPr>
          <p:cNvPr id="26" name="Rounded Rectangle 25"/>
          <p:cNvSpPr/>
          <p:nvPr/>
        </p:nvSpPr>
        <p:spPr>
          <a:xfrm>
            <a:off x="612648" y="5285232"/>
            <a:ext cx="10945368" cy="530352"/>
          </a:xfrm>
          <a:prstGeom prst="roundRect">
            <a:avLst>
              <a:gd name="adj" fmla="val 10000"/>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440680"/>
            <a:ext cx="10524744" cy="265176"/>
          </a:xfrm>
          <a:prstGeom prst="rect">
            <a:avLst/>
          </a:prstGeom>
          <a:noFill/>
        </p:spPr>
        <p:txBody>
          <a:bodyPr wrap="square" lIns="0" rIns="0" tIns="0" bIns="0" anchor="t">
            <a:spAutoFit/>
          </a:bodyPr>
          <a:lstStyle/>
          <a:p>
            <a:pPr algn="l">
              <a:lnSpc>
                <a:spcPct val="107000"/>
              </a:lnSpc>
              <a:spcBef>
                <a:spcPts val="0"/>
              </a:spcBef>
              <a:spcAft>
                <a:spcPts val="300"/>
              </a:spcAft>
            </a:pPr>
            <a:r>
              <a:rPr sz="1700" b="1">
                <a:solidFill>
                  <a:srgbClr val="FFFFFF"/>
                </a:solidFill>
                <a:latin typeface="Arial"/>
              </a:rPr>
              <a:t>AI prepares. Authorised staff review and decide. Every sensitive action has an accountable owner.</a:t>
            </a:r>
          </a:p>
        </p:txBody>
      </p:sp>
      <p:sp>
        <p:nvSpPr>
          <p:cNvPr id="28" name="TextBox 27"/>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B8CDD8"/>
                </a:solidFill>
                <a:latin typeface="Arial"/>
              </a:rPr>
              <a:t>Evidence templates follow validated current requirements. Statutory-system connections need approval; software does not guarantee accreditation.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6F9FA"/>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mrg_logo.png"/>
          <p:cNvPicPr>
            <a:picLocks noChangeAspect="1"/>
          </p:cNvPicPr>
          <p:nvPr/>
        </p:nvPicPr>
        <p:blipFill>
          <a:blip r:embed="rId2"/>
          <a:stretch>
            <a:fillRect/>
          </a:stretch>
        </p:blipFill>
        <p:spPr>
          <a:xfrm>
            <a:off x="10168128" y="320040"/>
            <a:ext cx="1408176" cy="625703"/>
          </a:xfrm>
          <a:prstGeom prst="rect">
            <a:avLst/>
          </a:prstGeom>
        </p:spPr>
      </p:pic>
      <p:sp>
        <p:nvSpPr>
          <p:cNvPr id="4" name="TextBox 3"/>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BENEFITS &amp; MEASURABLE OUTCOMES</a:t>
            </a:r>
          </a:p>
        </p:txBody>
      </p:sp>
      <p:sp>
        <p:nvSpPr>
          <p:cNvPr id="5" name="TextBox 4"/>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0B2438"/>
                </a:solidFill>
                <a:latin typeface="Arial"/>
              </a:rPr>
              <a:t>Measure success in the college’s daily work</a:t>
            </a:r>
          </a:p>
        </p:txBody>
      </p:sp>
      <p:sp>
        <p:nvSpPr>
          <p:cNvPr id="6" name="TextBox 5"/>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Agree the baseline, target and owner before the pilot; review operational results after go-live.</a:t>
            </a:r>
          </a:p>
        </p:txBody>
      </p:sp>
      <p:cxnSp>
        <p:nvCxnSpPr>
          <p:cNvPr id="7" name="Connector 6"/>
          <p:cNvCxnSpPr/>
          <p:nvPr/>
        </p:nvCxnSpPr>
        <p:spPr>
          <a:xfrm>
            <a:off x="585216" y="6400800"/>
            <a:ext cx="11009376" cy="0"/>
          </a:xfrm>
          <a:prstGeom prst="line">
            <a:avLst/>
          </a:prstGeom>
          <a:ln w="10160">
            <a:solidFill>
              <a:srgbClr val="D5E1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557080"/>
                </a:solidFill>
                <a:latin typeface="Arial"/>
              </a:rPr>
              <a:t>PMRG SOLUTION LLP  |  AYURVEDA COLLEGE ERP</a:t>
            </a:r>
          </a:p>
        </p:txBody>
      </p:sp>
      <p:sp>
        <p:nvSpPr>
          <p:cNvPr id="9" name="TextBox 8"/>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557080"/>
                </a:solidFill>
                <a:latin typeface="Arial"/>
              </a:rPr>
              <a:t>09 / 11</a:t>
            </a:r>
          </a:p>
        </p:txBody>
      </p:sp>
      <p:sp>
        <p:nvSpPr>
          <p:cNvPr id="10" name="Rectangle 9"/>
          <p:cNvSpPr/>
          <p:nvPr/>
        </p:nvSpPr>
        <p:spPr>
          <a:xfrm>
            <a:off x="612648" y="2249424"/>
            <a:ext cx="3547872" cy="429768"/>
          </a:xfrm>
          <a:prstGeom prst="rect">
            <a:avLst/>
          </a:prstGeom>
          <a:solidFill>
            <a:srgbClr val="0B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368296"/>
            <a:ext cx="3273552" cy="219456"/>
          </a:xfrm>
          <a:prstGeom prst="rect">
            <a:avLst/>
          </a:prstGeom>
          <a:noFill/>
        </p:spPr>
        <p:txBody>
          <a:bodyPr wrap="square" lIns="0" rIns="0" tIns="0" bIns="0" anchor="t">
            <a:spAutoFit/>
          </a:bodyPr>
          <a:lstStyle/>
          <a:p>
            <a:pPr algn="l">
              <a:lnSpc>
                <a:spcPct val="107000"/>
              </a:lnSpc>
              <a:spcBef>
                <a:spcPts val="0"/>
              </a:spcBef>
              <a:spcAft>
                <a:spcPts val="300"/>
              </a:spcAft>
            </a:pPr>
            <a:r>
              <a:rPr sz="1180" b="1">
                <a:solidFill>
                  <a:srgbClr val="FFFFFF"/>
                </a:solidFill>
                <a:latin typeface="Arial"/>
              </a:rPr>
              <a:t>EXPECTED IMPROVEMENT</a:t>
            </a:r>
          </a:p>
        </p:txBody>
      </p:sp>
      <p:sp>
        <p:nvSpPr>
          <p:cNvPr id="12" name="Rectangle 11"/>
          <p:cNvSpPr/>
          <p:nvPr/>
        </p:nvSpPr>
        <p:spPr>
          <a:xfrm>
            <a:off x="4160520" y="2249424"/>
            <a:ext cx="5138928" cy="429768"/>
          </a:xfrm>
          <a:prstGeom prst="rect">
            <a:avLst/>
          </a:prstGeom>
          <a:solidFill>
            <a:srgbClr val="0B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06824" y="2368296"/>
            <a:ext cx="4864608" cy="219456"/>
          </a:xfrm>
          <a:prstGeom prst="rect">
            <a:avLst/>
          </a:prstGeom>
          <a:noFill/>
        </p:spPr>
        <p:txBody>
          <a:bodyPr wrap="square" lIns="0" rIns="0" tIns="0" bIns="0" anchor="t">
            <a:spAutoFit/>
          </a:bodyPr>
          <a:lstStyle/>
          <a:p>
            <a:pPr algn="l">
              <a:lnSpc>
                <a:spcPct val="107000"/>
              </a:lnSpc>
              <a:spcBef>
                <a:spcPts val="0"/>
              </a:spcBef>
              <a:spcAft>
                <a:spcPts val="300"/>
              </a:spcAft>
            </a:pPr>
            <a:r>
              <a:rPr sz="1180" b="1">
                <a:solidFill>
                  <a:srgbClr val="FFFFFF"/>
                </a:solidFill>
                <a:latin typeface="Arial"/>
              </a:rPr>
              <a:t>HOW WE MEASURE IT</a:t>
            </a:r>
          </a:p>
        </p:txBody>
      </p:sp>
      <p:sp>
        <p:nvSpPr>
          <p:cNvPr id="14" name="Rectangle 13"/>
          <p:cNvSpPr/>
          <p:nvPr/>
        </p:nvSpPr>
        <p:spPr>
          <a:xfrm>
            <a:off x="9299448" y="2249424"/>
            <a:ext cx="2258568" cy="429768"/>
          </a:xfrm>
          <a:prstGeom prst="rect">
            <a:avLst/>
          </a:prstGeom>
          <a:solidFill>
            <a:srgbClr val="0B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45752" y="2368296"/>
            <a:ext cx="1984248" cy="219456"/>
          </a:xfrm>
          <a:prstGeom prst="rect">
            <a:avLst/>
          </a:prstGeom>
          <a:noFill/>
        </p:spPr>
        <p:txBody>
          <a:bodyPr wrap="square" lIns="0" rIns="0" tIns="0" bIns="0" anchor="t">
            <a:spAutoFit/>
          </a:bodyPr>
          <a:lstStyle/>
          <a:p>
            <a:pPr algn="l">
              <a:lnSpc>
                <a:spcPct val="107000"/>
              </a:lnSpc>
              <a:spcBef>
                <a:spcPts val="0"/>
              </a:spcBef>
              <a:spcAft>
                <a:spcPts val="300"/>
              </a:spcAft>
            </a:pPr>
            <a:r>
              <a:rPr sz="1180" b="1">
                <a:solidFill>
                  <a:srgbClr val="FFFFFF"/>
                </a:solidFill>
                <a:latin typeface="Arial"/>
              </a:rPr>
              <a:t>ACCOUNTABLE OWNER</a:t>
            </a:r>
          </a:p>
        </p:txBody>
      </p:sp>
      <p:sp>
        <p:nvSpPr>
          <p:cNvPr id="16" name="Rectangle 15"/>
          <p:cNvSpPr/>
          <p:nvPr/>
        </p:nvSpPr>
        <p:spPr>
          <a:xfrm>
            <a:off x="612648" y="2679192"/>
            <a:ext cx="3547872"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2798064"/>
            <a:ext cx="3264408"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1">
                <a:solidFill>
                  <a:srgbClr val="067F76"/>
                </a:solidFill>
                <a:latin typeface="Arial"/>
              </a:rPr>
              <a:t>Faster student administration</a:t>
            </a:r>
          </a:p>
        </p:txBody>
      </p:sp>
      <p:sp>
        <p:nvSpPr>
          <p:cNvPr id="18" name="Rectangle 17"/>
          <p:cNvSpPr/>
          <p:nvPr/>
        </p:nvSpPr>
        <p:spPr>
          <a:xfrm>
            <a:off x="4160520" y="2679192"/>
            <a:ext cx="5138928"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6824" y="2798064"/>
            <a:ext cx="485546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Time from complete application to confirmed enrolment</a:t>
            </a:r>
          </a:p>
        </p:txBody>
      </p:sp>
      <p:sp>
        <p:nvSpPr>
          <p:cNvPr id="20" name="Rectangle 19"/>
          <p:cNvSpPr/>
          <p:nvPr/>
        </p:nvSpPr>
        <p:spPr>
          <a:xfrm>
            <a:off x="9299448" y="2679192"/>
            <a:ext cx="2258568"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45752" y="2798064"/>
            <a:ext cx="197510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Admissions</a:t>
            </a:r>
          </a:p>
        </p:txBody>
      </p:sp>
      <p:sp>
        <p:nvSpPr>
          <p:cNvPr id="22" name="Rectangle 21"/>
          <p:cNvSpPr/>
          <p:nvPr/>
        </p:nvSpPr>
        <p:spPr>
          <a:xfrm>
            <a:off x="612648" y="3108960"/>
            <a:ext cx="3547872"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3227832"/>
            <a:ext cx="3264408"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1">
                <a:solidFill>
                  <a:srgbClr val="067F76"/>
                </a:solidFill>
                <a:latin typeface="Arial"/>
              </a:rPr>
              <a:t>Clearer fee collections</a:t>
            </a:r>
          </a:p>
        </p:txBody>
      </p:sp>
      <p:sp>
        <p:nvSpPr>
          <p:cNvPr id="24" name="Rectangle 23"/>
          <p:cNvSpPr/>
          <p:nvPr/>
        </p:nvSpPr>
        <p:spPr>
          <a:xfrm>
            <a:off x="4160520" y="3108960"/>
            <a:ext cx="5138928"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06824" y="3227832"/>
            <a:ext cx="485546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Overdue fee value; time to reconcile receipts</a:t>
            </a:r>
          </a:p>
        </p:txBody>
      </p:sp>
      <p:sp>
        <p:nvSpPr>
          <p:cNvPr id="26" name="Rectangle 25"/>
          <p:cNvSpPr/>
          <p:nvPr/>
        </p:nvSpPr>
        <p:spPr>
          <a:xfrm>
            <a:off x="9299448" y="3108960"/>
            <a:ext cx="2258568"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45752" y="3227832"/>
            <a:ext cx="197510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Finance</a:t>
            </a:r>
          </a:p>
        </p:txBody>
      </p:sp>
      <p:sp>
        <p:nvSpPr>
          <p:cNvPr id="28" name="Rectangle 27"/>
          <p:cNvSpPr/>
          <p:nvPr/>
        </p:nvSpPr>
        <p:spPr>
          <a:xfrm>
            <a:off x="612648" y="3538728"/>
            <a:ext cx="3547872"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3657600"/>
            <a:ext cx="3264408"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1">
                <a:solidFill>
                  <a:srgbClr val="067F76"/>
                </a:solidFill>
                <a:latin typeface="Arial"/>
              </a:rPr>
              <a:t>More complete learning records</a:t>
            </a:r>
          </a:p>
        </p:txBody>
      </p:sp>
      <p:sp>
        <p:nvSpPr>
          <p:cNvPr id="30" name="Rectangle 29"/>
          <p:cNvSpPr/>
          <p:nvPr/>
        </p:nvSpPr>
        <p:spPr>
          <a:xfrm>
            <a:off x="4160520" y="3538728"/>
            <a:ext cx="5138928"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06824" y="3657600"/>
            <a:ext cx="485546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Attendance and logbooks completed by due date</a:t>
            </a:r>
          </a:p>
        </p:txBody>
      </p:sp>
      <p:sp>
        <p:nvSpPr>
          <p:cNvPr id="32" name="Rectangle 31"/>
          <p:cNvSpPr/>
          <p:nvPr/>
        </p:nvSpPr>
        <p:spPr>
          <a:xfrm>
            <a:off x="9299448" y="3538728"/>
            <a:ext cx="2258568"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45752" y="3657600"/>
            <a:ext cx="197510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Academic office</a:t>
            </a:r>
          </a:p>
        </p:txBody>
      </p:sp>
      <p:sp>
        <p:nvSpPr>
          <p:cNvPr id="34" name="Rectangle 33"/>
          <p:cNvSpPr/>
          <p:nvPr/>
        </p:nvSpPr>
        <p:spPr>
          <a:xfrm>
            <a:off x="612648" y="3968496"/>
            <a:ext cx="3547872"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 y="4087368"/>
            <a:ext cx="3264408"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1">
                <a:solidFill>
                  <a:srgbClr val="067F76"/>
                </a:solidFill>
                <a:latin typeface="Arial"/>
              </a:rPr>
              <a:t>Smoother hospital operations</a:t>
            </a:r>
          </a:p>
        </p:txBody>
      </p:sp>
      <p:sp>
        <p:nvSpPr>
          <p:cNvPr id="36" name="Rectangle 35"/>
          <p:cNvSpPr/>
          <p:nvPr/>
        </p:nvSpPr>
        <p:spPr>
          <a:xfrm>
            <a:off x="4160520" y="3968496"/>
            <a:ext cx="5138928"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06824" y="4087368"/>
            <a:ext cx="485546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Registration-to-consultation time; record completeness</a:t>
            </a:r>
          </a:p>
        </p:txBody>
      </p:sp>
      <p:sp>
        <p:nvSpPr>
          <p:cNvPr id="38" name="Rectangle 37"/>
          <p:cNvSpPr/>
          <p:nvPr/>
        </p:nvSpPr>
        <p:spPr>
          <a:xfrm>
            <a:off x="9299448" y="3968496"/>
            <a:ext cx="2258568"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45752" y="4087368"/>
            <a:ext cx="197510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Hospital team</a:t>
            </a:r>
          </a:p>
        </p:txBody>
      </p:sp>
      <p:sp>
        <p:nvSpPr>
          <p:cNvPr id="40" name="Rectangle 39"/>
          <p:cNvSpPr/>
          <p:nvPr/>
        </p:nvSpPr>
        <p:spPr>
          <a:xfrm>
            <a:off x="612648" y="4398264"/>
            <a:ext cx="3547872"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8952" y="4517136"/>
            <a:ext cx="3264408"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1">
                <a:solidFill>
                  <a:srgbClr val="067F76"/>
                </a:solidFill>
                <a:latin typeface="Arial"/>
              </a:rPr>
              <a:t>Better pharmacy control</a:t>
            </a:r>
          </a:p>
        </p:txBody>
      </p:sp>
      <p:sp>
        <p:nvSpPr>
          <p:cNvPr id="42" name="Rectangle 41"/>
          <p:cNvSpPr/>
          <p:nvPr/>
        </p:nvSpPr>
        <p:spPr>
          <a:xfrm>
            <a:off x="4160520" y="4398264"/>
            <a:ext cx="5138928"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06824" y="4517136"/>
            <a:ext cx="485546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Stock accuracy; stockouts; expired-stock value</a:t>
            </a:r>
          </a:p>
        </p:txBody>
      </p:sp>
      <p:sp>
        <p:nvSpPr>
          <p:cNvPr id="44" name="Rectangle 43"/>
          <p:cNvSpPr/>
          <p:nvPr/>
        </p:nvSpPr>
        <p:spPr>
          <a:xfrm>
            <a:off x="9299448" y="4398264"/>
            <a:ext cx="2258568"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45752" y="4517136"/>
            <a:ext cx="197510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Pharmacy</a:t>
            </a:r>
          </a:p>
        </p:txBody>
      </p:sp>
      <p:sp>
        <p:nvSpPr>
          <p:cNvPr id="46" name="Rectangle 45"/>
          <p:cNvSpPr/>
          <p:nvPr/>
        </p:nvSpPr>
        <p:spPr>
          <a:xfrm>
            <a:off x="612648" y="4828031"/>
            <a:ext cx="3547872"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58952" y="4946903"/>
            <a:ext cx="3264408"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1">
                <a:solidFill>
                  <a:srgbClr val="067F76"/>
                </a:solidFill>
                <a:latin typeface="Arial"/>
              </a:rPr>
              <a:t>Faster evidence preparation</a:t>
            </a:r>
          </a:p>
        </p:txBody>
      </p:sp>
      <p:sp>
        <p:nvSpPr>
          <p:cNvPr id="48" name="Rectangle 47"/>
          <p:cNvSpPr/>
          <p:nvPr/>
        </p:nvSpPr>
        <p:spPr>
          <a:xfrm>
            <a:off x="4160520" y="4828031"/>
            <a:ext cx="5138928"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06824" y="4946903"/>
            <a:ext cx="485546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Hours to compile a verified review / inspection pack</a:t>
            </a:r>
          </a:p>
        </p:txBody>
      </p:sp>
      <p:sp>
        <p:nvSpPr>
          <p:cNvPr id="50" name="Rectangle 49"/>
          <p:cNvSpPr/>
          <p:nvPr/>
        </p:nvSpPr>
        <p:spPr>
          <a:xfrm>
            <a:off x="9299448" y="4828031"/>
            <a:ext cx="2258568" cy="429768"/>
          </a:xfrm>
          <a:prstGeom prst="rect">
            <a:avLst/>
          </a:prstGeom>
          <a:solidFill>
            <a:srgbClr val="ED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45752" y="4946903"/>
            <a:ext cx="1975104" cy="283464"/>
          </a:xfrm>
          <a:prstGeom prst="rect">
            <a:avLst/>
          </a:prstGeom>
          <a:noFill/>
        </p:spPr>
        <p:txBody>
          <a:bodyPr wrap="square" lIns="0" rIns="0" tIns="0" bIns="0" anchor="t">
            <a:spAutoFit/>
          </a:bodyPr>
          <a:lstStyle/>
          <a:p>
            <a:pPr algn="l">
              <a:lnSpc>
                <a:spcPct val="107000"/>
              </a:lnSpc>
              <a:spcBef>
                <a:spcPts val="0"/>
              </a:spcBef>
              <a:spcAft>
                <a:spcPts val="300"/>
              </a:spcAft>
            </a:pPr>
            <a:r>
              <a:rPr sz="1420" b="0">
                <a:solidFill>
                  <a:srgbClr val="19364A"/>
                </a:solidFill>
                <a:latin typeface="Arial"/>
              </a:rPr>
              <a:t>Principal / quality</a:t>
            </a:r>
          </a:p>
        </p:txBody>
      </p:sp>
      <p:sp>
        <p:nvSpPr>
          <p:cNvPr id="52" name="Rounded Rectangle 51"/>
          <p:cNvSpPr/>
          <p:nvPr/>
        </p:nvSpPr>
        <p:spPr>
          <a:xfrm>
            <a:off x="612648" y="5577840"/>
            <a:ext cx="10945368" cy="393192"/>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6384" y="5678424"/>
            <a:ext cx="10607040" cy="228600"/>
          </a:xfrm>
          <a:prstGeom prst="rect">
            <a:avLst/>
          </a:prstGeom>
          <a:noFill/>
        </p:spPr>
        <p:txBody>
          <a:bodyPr wrap="square" lIns="0" rIns="0" tIns="0" bIns="0" anchor="t">
            <a:spAutoFit/>
          </a:bodyPr>
          <a:lstStyle/>
          <a:p>
            <a:pPr algn="l">
              <a:lnSpc>
                <a:spcPct val="107000"/>
              </a:lnSpc>
              <a:spcBef>
                <a:spcPts val="0"/>
              </a:spcBef>
              <a:spcAft>
                <a:spcPts val="300"/>
              </a:spcAft>
            </a:pPr>
            <a:r>
              <a:rPr sz="1400" b="1">
                <a:solidFill>
                  <a:srgbClr val="067F76"/>
                </a:solidFill>
                <a:latin typeface="Arial"/>
              </a:rPr>
              <a:t>Leadership view: fees  |  academic progress  |  patient activity  |  pharmacy exceptions  |  department costs</a:t>
            </a:r>
          </a:p>
        </p:txBody>
      </p:sp>
      <p:sp>
        <p:nvSpPr>
          <p:cNvPr id="54" name="TextBox 53"/>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557080"/>
                </a:solidFill>
                <a:latin typeface="Arial"/>
              </a:rPr>
              <a:t>Targets are agreed during discovery. Benefits depend on scope, clean data, adoption and sustained use; no savings percentage is assumed.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6F9FA"/>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mrg_logo.png"/>
          <p:cNvPicPr>
            <a:picLocks noChangeAspect="1"/>
          </p:cNvPicPr>
          <p:nvPr/>
        </p:nvPicPr>
        <p:blipFill>
          <a:blip r:embed="rId2"/>
          <a:stretch>
            <a:fillRect/>
          </a:stretch>
        </p:blipFill>
        <p:spPr>
          <a:xfrm>
            <a:off x="10168128" y="320040"/>
            <a:ext cx="1408176" cy="625703"/>
          </a:xfrm>
          <a:prstGeom prst="rect">
            <a:avLst/>
          </a:prstGeom>
        </p:spPr>
      </p:pic>
      <p:sp>
        <p:nvSpPr>
          <p:cNvPr id="4" name="TextBox 3"/>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IMPLEMENTATION APPROACH</a:t>
            </a:r>
          </a:p>
        </p:txBody>
      </p:sp>
      <p:sp>
        <p:nvSpPr>
          <p:cNvPr id="5" name="TextBox 4"/>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0B2438"/>
                </a:solidFill>
                <a:latin typeface="Arial"/>
              </a:rPr>
              <a:t>Start with a focused pilot. Expand after proof.</a:t>
            </a:r>
          </a:p>
        </p:txBody>
      </p:sp>
      <p:sp>
        <p:nvSpPr>
          <p:cNvPr id="6" name="TextBox 5"/>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557080"/>
                </a:solidFill>
                <a:latin typeface="Arial"/>
              </a:rPr>
              <a:t>A practical rollout around the academic calendar, hospital continuity and agreed acceptance gates.</a:t>
            </a:r>
          </a:p>
        </p:txBody>
      </p:sp>
      <p:cxnSp>
        <p:nvCxnSpPr>
          <p:cNvPr id="7" name="Connector 6"/>
          <p:cNvCxnSpPr/>
          <p:nvPr/>
        </p:nvCxnSpPr>
        <p:spPr>
          <a:xfrm>
            <a:off x="585216" y="6400800"/>
            <a:ext cx="11009376" cy="0"/>
          </a:xfrm>
          <a:prstGeom prst="line">
            <a:avLst/>
          </a:prstGeom>
          <a:ln w="10160">
            <a:solidFill>
              <a:srgbClr val="D5E1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557080"/>
                </a:solidFill>
                <a:latin typeface="Arial"/>
              </a:rPr>
              <a:t>PMRG SOLUTION LLP  |  AYURVEDA COLLEGE ERP</a:t>
            </a:r>
          </a:p>
        </p:txBody>
      </p:sp>
      <p:sp>
        <p:nvSpPr>
          <p:cNvPr id="9" name="TextBox 8"/>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557080"/>
                </a:solidFill>
                <a:latin typeface="Arial"/>
              </a:rPr>
              <a:t>10 / 11</a:t>
            </a:r>
          </a:p>
        </p:txBody>
      </p:sp>
      <p:sp>
        <p:nvSpPr>
          <p:cNvPr id="10" name="Oval 9"/>
          <p:cNvSpPr/>
          <p:nvPr/>
        </p:nvSpPr>
        <p:spPr>
          <a:xfrm>
            <a:off x="612648" y="2267712"/>
            <a:ext cx="402336" cy="402336"/>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286000"/>
            <a:ext cx="402336" cy="384048"/>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01</a:t>
            </a:r>
          </a:p>
        </p:txBody>
      </p:sp>
      <p:cxnSp>
        <p:nvCxnSpPr>
          <p:cNvPr id="12" name="Connector 11"/>
          <p:cNvCxnSpPr/>
          <p:nvPr/>
        </p:nvCxnSpPr>
        <p:spPr>
          <a:xfrm>
            <a:off x="1088136" y="2468880"/>
            <a:ext cx="2130552" cy="0"/>
          </a:xfrm>
          <a:prstGeom prst="line">
            <a:avLst/>
          </a:prstGeom>
          <a:ln w="22860">
            <a:solidFill>
              <a:srgbClr val="D5E1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8" y="2880360"/>
            <a:ext cx="2505456" cy="612648"/>
          </a:xfrm>
          <a:prstGeom prst="rect">
            <a:avLst/>
          </a:prstGeom>
          <a:noFill/>
        </p:spPr>
        <p:txBody>
          <a:bodyPr wrap="square" lIns="0" rIns="0" tIns="0" bIns="0" anchor="t">
            <a:spAutoFit/>
          </a:bodyPr>
          <a:lstStyle/>
          <a:p>
            <a:pPr algn="l">
              <a:lnSpc>
                <a:spcPct val="107000"/>
              </a:lnSpc>
              <a:spcBef>
                <a:spcPts val="0"/>
              </a:spcBef>
              <a:spcAft>
                <a:spcPts val="300"/>
              </a:spcAft>
            </a:pPr>
            <a:r>
              <a:rPr sz="2300" b="1">
                <a:solidFill>
                  <a:srgbClr val="0B2438"/>
                </a:solidFill>
                <a:latin typeface="Arial"/>
              </a:rPr>
              <a:t>Discover</a:t>
            </a:r>
          </a:p>
        </p:txBody>
      </p:sp>
      <p:sp>
        <p:nvSpPr>
          <p:cNvPr id="14" name="TextBox 13"/>
          <p:cNvSpPr txBox="1"/>
          <p:nvPr/>
        </p:nvSpPr>
        <p:spPr>
          <a:xfrm>
            <a:off x="612648" y="3675887"/>
            <a:ext cx="2505456" cy="868680"/>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557080"/>
                </a:solidFill>
                <a:latin typeface="Arial"/>
              </a:rPr>
              <a:t>Map priority workflows.</a:t>
            </a:r>
          </a:p>
          <a:p>
            <a:pPr algn="l">
              <a:lnSpc>
                <a:spcPct val="107000"/>
              </a:lnSpc>
              <a:spcBef>
                <a:spcPts val="0"/>
              </a:spcBef>
              <a:spcAft>
                <a:spcPts val="300"/>
              </a:spcAft>
            </a:pPr>
            <a:r>
              <a:rPr sz="1600" b="0">
                <a:solidFill>
                  <a:srgbClr val="557080"/>
                </a:solidFill>
                <a:latin typeface="Arial"/>
              </a:rPr>
              <a:t>Confirm data and systems.</a:t>
            </a:r>
          </a:p>
        </p:txBody>
      </p:sp>
      <p:sp>
        <p:nvSpPr>
          <p:cNvPr id="15" name="Rounded Rectangle 14"/>
          <p:cNvSpPr/>
          <p:nvPr/>
        </p:nvSpPr>
        <p:spPr>
          <a:xfrm>
            <a:off x="612648" y="4773168"/>
            <a:ext cx="2551176" cy="896112"/>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4946904"/>
            <a:ext cx="2276856" cy="585216"/>
          </a:xfrm>
          <a:prstGeom prst="rect">
            <a:avLst/>
          </a:prstGeom>
          <a:noFill/>
        </p:spPr>
        <p:txBody>
          <a:bodyPr wrap="square" lIns="0" rIns="0" tIns="0" bIns="0" anchor="t">
            <a:spAutoFit/>
          </a:bodyPr>
          <a:lstStyle/>
          <a:p>
            <a:pPr algn="l">
              <a:lnSpc>
                <a:spcPct val="107000"/>
              </a:lnSpc>
              <a:spcBef>
                <a:spcPts val="0"/>
              </a:spcBef>
              <a:spcAft>
                <a:spcPts val="300"/>
              </a:spcAft>
            </a:pPr>
            <a:r>
              <a:rPr sz="1500" b="1">
                <a:solidFill>
                  <a:srgbClr val="067F76"/>
                </a:solidFill>
                <a:latin typeface="Arial"/>
              </a:rPr>
              <a:t>Scope, design and</a:t>
            </a:r>
          </a:p>
          <a:p>
            <a:pPr algn="l">
              <a:lnSpc>
                <a:spcPct val="107000"/>
              </a:lnSpc>
              <a:spcBef>
                <a:spcPts val="0"/>
              </a:spcBef>
              <a:spcAft>
                <a:spcPts val="300"/>
              </a:spcAft>
            </a:pPr>
            <a:r>
              <a:rPr sz="1500" b="1">
                <a:solidFill>
                  <a:srgbClr val="067F76"/>
                </a:solidFill>
                <a:latin typeface="Arial"/>
              </a:rPr>
              <a:t>baseline approved.</a:t>
            </a:r>
          </a:p>
        </p:txBody>
      </p:sp>
      <p:sp>
        <p:nvSpPr>
          <p:cNvPr id="17" name="Oval 16"/>
          <p:cNvSpPr/>
          <p:nvPr/>
        </p:nvSpPr>
        <p:spPr>
          <a:xfrm>
            <a:off x="3396996" y="2267712"/>
            <a:ext cx="402336" cy="402336"/>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96996" y="2286000"/>
            <a:ext cx="402336" cy="384048"/>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02</a:t>
            </a:r>
          </a:p>
        </p:txBody>
      </p:sp>
      <p:cxnSp>
        <p:nvCxnSpPr>
          <p:cNvPr id="19" name="Connector 18"/>
          <p:cNvCxnSpPr/>
          <p:nvPr/>
        </p:nvCxnSpPr>
        <p:spPr>
          <a:xfrm>
            <a:off x="3872483" y="2468880"/>
            <a:ext cx="2130553" cy="0"/>
          </a:xfrm>
          <a:prstGeom prst="line">
            <a:avLst/>
          </a:prstGeom>
          <a:ln w="22860">
            <a:solidFill>
              <a:srgbClr val="D5E1E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396996" y="2880360"/>
            <a:ext cx="2505456" cy="612648"/>
          </a:xfrm>
          <a:prstGeom prst="rect">
            <a:avLst/>
          </a:prstGeom>
          <a:noFill/>
        </p:spPr>
        <p:txBody>
          <a:bodyPr wrap="square" lIns="0" rIns="0" tIns="0" bIns="0" anchor="t">
            <a:spAutoFit/>
          </a:bodyPr>
          <a:lstStyle/>
          <a:p>
            <a:pPr algn="l">
              <a:lnSpc>
                <a:spcPct val="107000"/>
              </a:lnSpc>
              <a:spcBef>
                <a:spcPts val="0"/>
              </a:spcBef>
              <a:spcAft>
                <a:spcPts val="300"/>
              </a:spcAft>
            </a:pPr>
            <a:r>
              <a:rPr sz="2300" b="1">
                <a:solidFill>
                  <a:srgbClr val="0B2438"/>
                </a:solidFill>
                <a:latin typeface="Arial"/>
              </a:rPr>
              <a:t>Pilot</a:t>
            </a:r>
          </a:p>
        </p:txBody>
      </p:sp>
      <p:sp>
        <p:nvSpPr>
          <p:cNvPr id="21" name="TextBox 20"/>
          <p:cNvSpPr txBox="1"/>
          <p:nvPr/>
        </p:nvSpPr>
        <p:spPr>
          <a:xfrm>
            <a:off x="3396996" y="3675887"/>
            <a:ext cx="2505456" cy="868680"/>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557080"/>
                </a:solidFill>
                <a:latin typeface="Arial"/>
              </a:rPr>
              <a:t>Trial one intake or</a:t>
            </a:r>
          </a:p>
          <a:p>
            <a:pPr algn="l">
              <a:lnSpc>
                <a:spcPct val="107000"/>
              </a:lnSpc>
              <a:spcBef>
                <a:spcPts val="0"/>
              </a:spcBef>
              <a:spcAft>
                <a:spcPts val="300"/>
              </a:spcAft>
            </a:pPr>
            <a:r>
              <a:rPr sz="1600" b="0">
                <a:solidFill>
                  <a:srgbClr val="557080"/>
                </a:solidFill>
                <a:latin typeface="Arial"/>
              </a:rPr>
              <a:t>one hospital service unit.</a:t>
            </a:r>
          </a:p>
        </p:txBody>
      </p:sp>
      <p:sp>
        <p:nvSpPr>
          <p:cNvPr id="22" name="Rounded Rectangle 21"/>
          <p:cNvSpPr/>
          <p:nvPr/>
        </p:nvSpPr>
        <p:spPr>
          <a:xfrm>
            <a:off x="3396996" y="4773168"/>
            <a:ext cx="2551176" cy="896112"/>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34156" y="4946904"/>
            <a:ext cx="2276856" cy="585216"/>
          </a:xfrm>
          <a:prstGeom prst="rect">
            <a:avLst/>
          </a:prstGeom>
          <a:noFill/>
        </p:spPr>
        <p:txBody>
          <a:bodyPr wrap="square" lIns="0" rIns="0" tIns="0" bIns="0" anchor="t">
            <a:spAutoFit/>
          </a:bodyPr>
          <a:lstStyle/>
          <a:p>
            <a:pPr algn="l">
              <a:lnSpc>
                <a:spcPct val="107000"/>
              </a:lnSpc>
              <a:spcBef>
                <a:spcPts val="0"/>
              </a:spcBef>
              <a:spcAft>
                <a:spcPts val="300"/>
              </a:spcAft>
            </a:pPr>
            <a:r>
              <a:rPr sz="1500" b="1">
                <a:solidFill>
                  <a:srgbClr val="067F76"/>
                </a:solidFill>
                <a:latin typeface="Arial"/>
              </a:rPr>
              <a:t>Workflows proven;</a:t>
            </a:r>
          </a:p>
          <a:p>
            <a:pPr algn="l">
              <a:lnSpc>
                <a:spcPct val="107000"/>
              </a:lnSpc>
              <a:spcBef>
                <a:spcPts val="0"/>
              </a:spcBef>
              <a:spcAft>
                <a:spcPts val="300"/>
              </a:spcAft>
            </a:pPr>
            <a:r>
              <a:rPr sz="1500" b="1">
                <a:solidFill>
                  <a:srgbClr val="067F76"/>
                </a:solidFill>
                <a:latin typeface="Arial"/>
              </a:rPr>
              <a:t>data reconciled.</a:t>
            </a:r>
          </a:p>
        </p:txBody>
      </p:sp>
      <p:sp>
        <p:nvSpPr>
          <p:cNvPr id="24" name="Oval 23"/>
          <p:cNvSpPr/>
          <p:nvPr/>
        </p:nvSpPr>
        <p:spPr>
          <a:xfrm>
            <a:off x="6181344" y="2267712"/>
            <a:ext cx="402336" cy="402336"/>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1344" y="2286000"/>
            <a:ext cx="402336" cy="384048"/>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03</a:t>
            </a:r>
          </a:p>
        </p:txBody>
      </p:sp>
      <p:cxnSp>
        <p:nvCxnSpPr>
          <p:cNvPr id="26" name="Connector 25"/>
          <p:cNvCxnSpPr/>
          <p:nvPr/>
        </p:nvCxnSpPr>
        <p:spPr>
          <a:xfrm>
            <a:off x="6656831" y="2468880"/>
            <a:ext cx="2130553" cy="0"/>
          </a:xfrm>
          <a:prstGeom prst="line">
            <a:avLst/>
          </a:prstGeom>
          <a:ln w="22860">
            <a:solidFill>
              <a:srgbClr val="D5E1E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81344" y="2880360"/>
            <a:ext cx="2505456" cy="612648"/>
          </a:xfrm>
          <a:prstGeom prst="rect">
            <a:avLst/>
          </a:prstGeom>
          <a:noFill/>
        </p:spPr>
        <p:txBody>
          <a:bodyPr wrap="square" lIns="0" rIns="0" tIns="0" bIns="0" anchor="t">
            <a:spAutoFit/>
          </a:bodyPr>
          <a:lstStyle/>
          <a:p>
            <a:pPr algn="l">
              <a:lnSpc>
                <a:spcPct val="107000"/>
              </a:lnSpc>
              <a:spcBef>
                <a:spcPts val="0"/>
              </a:spcBef>
              <a:spcAft>
                <a:spcPts val="300"/>
              </a:spcAft>
            </a:pPr>
            <a:r>
              <a:rPr sz="2300" b="1">
                <a:solidFill>
                  <a:srgbClr val="0B2438"/>
                </a:solidFill>
                <a:latin typeface="Arial"/>
              </a:rPr>
              <a:t>Expand</a:t>
            </a:r>
          </a:p>
        </p:txBody>
      </p:sp>
      <p:sp>
        <p:nvSpPr>
          <p:cNvPr id="28" name="TextBox 27"/>
          <p:cNvSpPr txBox="1"/>
          <p:nvPr/>
        </p:nvSpPr>
        <p:spPr>
          <a:xfrm>
            <a:off x="6181344" y="3675887"/>
            <a:ext cx="2505456" cy="868680"/>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557080"/>
                </a:solidFill>
                <a:latin typeface="Arial"/>
              </a:rPr>
              <a:t>Add academic, hospital</a:t>
            </a:r>
          </a:p>
          <a:p>
            <a:pPr algn="l">
              <a:lnSpc>
                <a:spcPct val="107000"/>
              </a:lnSpc>
              <a:spcBef>
                <a:spcPts val="0"/>
              </a:spcBef>
              <a:spcAft>
                <a:spcPts val="300"/>
              </a:spcAft>
            </a:pPr>
            <a:r>
              <a:rPr sz="1600" b="0">
                <a:solidFill>
                  <a:srgbClr val="557080"/>
                </a:solidFill>
                <a:latin typeface="Arial"/>
              </a:rPr>
              <a:t>and campus capabilities.</a:t>
            </a:r>
          </a:p>
        </p:txBody>
      </p:sp>
      <p:sp>
        <p:nvSpPr>
          <p:cNvPr id="29" name="Rounded Rectangle 28"/>
          <p:cNvSpPr/>
          <p:nvPr/>
        </p:nvSpPr>
        <p:spPr>
          <a:xfrm>
            <a:off x="6181344" y="4773168"/>
            <a:ext cx="2551176" cy="896112"/>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18504" y="4946904"/>
            <a:ext cx="2276856" cy="585216"/>
          </a:xfrm>
          <a:prstGeom prst="rect">
            <a:avLst/>
          </a:prstGeom>
          <a:noFill/>
        </p:spPr>
        <p:txBody>
          <a:bodyPr wrap="square" lIns="0" rIns="0" tIns="0" bIns="0" anchor="t">
            <a:spAutoFit/>
          </a:bodyPr>
          <a:lstStyle/>
          <a:p>
            <a:pPr algn="l">
              <a:lnSpc>
                <a:spcPct val="107000"/>
              </a:lnSpc>
              <a:spcBef>
                <a:spcPts val="0"/>
              </a:spcBef>
              <a:spcAft>
                <a:spcPts val="300"/>
              </a:spcAft>
            </a:pPr>
            <a:r>
              <a:rPr sz="1500" b="1">
                <a:solidFill>
                  <a:srgbClr val="067F76"/>
                </a:solidFill>
                <a:latin typeface="Arial"/>
              </a:rPr>
              <a:t>Users trained;</a:t>
            </a:r>
          </a:p>
          <a:p>
            <a:pPr algn="l">
              <a:lnSpc>
                <a:spcPct val="107000"/>
              </a:lnSpc>
              <a:spcBef>
                <a:spcPts val="0"/>
              </a:spcBef>
              <a:spcAft>
                <a:spcPts val="300"/>
              </a:spcAft>
            </a:pPr>
            <a:r>
              <a:rPr sz="1500" b="1">
                <a:solidFill>
                  <a:srgbClr val="067F76"/>
                </a:solidFill>
                <a:latin typeface="Arial"/>
              </a:rPr>
              <a:t>cutover approved.</a:t>
            </a:r>
          </a:p>
        </p:txBody>
      </p:sp>
      <p:sp>
        <p:nvSpPr>
          <p:cNvPr id="31" name="Oval 30"/>
          <p:cNvSpPr/>
          <p:nvPr/>
        </p:nvSpPr>
        <p:spPr>
          <a:xfrm>
            <a:off x="8965692" y="2267712"/>
            <a:ext cx="402336" cy="402336"/>
          </a:xfrm>
          <a:prstGeom prst="ellipse">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5692" y="2286000"/>
            <a:ext cx="402336" cy="384048"/>
          </a:xfrm>
          <a:prstGeom prst="rect">
            <a:avLst/>
          </a:prstGeom>
          <a:noFill/>
        </p:spPr>
        <p:txBody>
          <a:bodyPr wrap="square" lIns="0" rIns="0" tIns="0" bIns="0" anchor="t">
            <a:spAutoFit/>
          </a:bodyPr>
          <a:lstStyle/>
          <a:p>
            <a:pPr algn="ctr">
              <a:lnSpc>
                <a:spcPct val="107000"/>
              </a:lnSpc>
              <a:spcBef>
                <a:spcPts val="0"/>
              </a:spcBef>
              <a:spcAft>
                <a:spcPts val="300"/>
              </a:spcAft>
            </a:pPr>
            <a:r>
              <a:rPr sz="1400" b="1">
                <a:solidFill>
                  <a:srgbClr val="FFFFFF"/>
                </a:solidFill>
                <a:latin typeface="Arial"/>
              </a:rPr>
              <a:t>04</a:t>
            </a:r>
          </a:p>
        </p:txBody>
      </p:sp>
      <p:sp>
        <p:nvSpPr>
          <p:cNvPr id="33" name="TextBox 32"/>
          <p:cNvSpPr txBox="1"/>
          <p:nvPr/>
        </p:nvSpPr>
        <p:spPr>
          <a:xfrm>
            <a:off x="8965692" y="2880360"/>
            <a:ext cx="2505456" cy="612648"/>
          </a:xfrm>
          <a:prstGeom prst="rect">
            <a:avLst/>
          </a:prstGeom>
          <a:noFill/>
        </p:spPr>
        <p:txBody>
          <a:bodyPr wrap="square" lIns="0" rIns="0" tIns="0" bIns="0" anchor="t">
            <a:spAutoFit/>
          </a:bodyPr>
          <a:lstStyle/>
          <a:p>
            <a:pPr algn="l">
              <a:lnSpc>
                <a:spcPct val="107000"/>
              </a:lnSpc>
              <a:spcBef>
                <a:spcPts val="0"/>
              </a:spcBef>
              <a:spcAft>
                <a:spcPts val="300"/>
              </a:spcAft>
            </a:pPr>
            <a:r>
              <a:rPr sz="2300" b="1">
                <a:solidFill>
                  <a:srgbClr val="0B2438"/>
                </a:solidFill>
                <a:latin typeface="Arial"/>
              </a:rPr>
              <a:t>Support</a:t>
            </a:r>
          </a:p>
        </p:txBody>
      </p:sp>
      <p:sp>
        <p:nvSpPr>
          <p:cNvPr id="34" name="TextBox 33"/>
          <p:cNvSpPr txBox="1"/>
          <p:nvPr/>
        </p:nvSpPr>
        <p:spPr>
          <a:xfrm>
            <a:off x="8965692" y="3675887"/>
            <a:ext cx="2505456" cy="868680"/>
          </a:xfrm>
          <a:prstGeom prst="rect">
            <a:avLst/>
          </a:prstGeom>
          <a:noFill/>
        </p:spPr>
        <p:txBody>
          <a:bodyPr wrap="square" lIns="0" rIns="0" tIns="0" bIns="0" anchor="t">
            <a:spAutoFit/>
          </a:bodyPr>
          <a:lstStyle/>
          <a:p>
            <a:pPr algn="l">
              <a:lnSpc>
                <a:spcPct val="107000"/>
              </a:lnSpc>
              <a:spcBef>
                <a:spcPts val="0"/>
              </a:spcBef>
              <a:spcAft>
                <a:spcPts val="300"/>
              </a:spcAft>
            </a:pPr>
            <a:r>
              <a:rPr sz="1600" b="0">
                <a:solidFill>
                  <a:srgbClr val="557080"/>
                </a:solidFill>
                <a:latin typeface="Arial"/>
              </a:rPr>
              <a:t>Hypercare, helpdesk and</a:t>
            </a:r>
          </a:p>
          <a:p>
            <a:pPr algn="l">
              <a:lnSpc>
                <a:spcPct val="107000"/>
              </a:lnSpc>
              <a:spcBef>
                <a:spcPts val="0"/>
              </a:spcBef>
              <a:spcAft>
                <a:spcPts val="300"/>
              </a:spcAft>
            </a:pPr>
            <a:r>
              <a:rPr sz="1600" b="0">
                <a:solidFill>
                  <a:srgbClr val="557080"/>
                </a:solidFill>
                <a:latin typeface="Arial"/>
              </a:rPr>
              <a:t>regular outcome reviews.</a:t>
            </a:r>
          </a:p>
        </p:txBody>
      </p:sp>
      <p:sp>
        <p:nvSpPr>
          <p:cNvPr id="35" name="Rounded Rectangle 34"/>
          <p:cNvSpPr/>
          <p:nvPr/>
        </p:nvSpPr>
        <p:spPr>
          <a:xfrm>
            <a:off x="8965692" y="4773168"/>
            <a:ext cx="2551176" cy="896112"/>
          </a:xfrm>
          <a:prstGeom prst="roundRect">
            <a:avLst>
              <a:gd name="adj" fmla="val 10000"/>
            </a:avLst>
          </a:prstGeom>
          <a:solidFill>
            <a:srgbClr val="DCE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02852" y="4946904"/>
            <a:ext cx="2276856" cy="585216"/>
          </a:xfrm>
          <a:prstGeom prst="rect">
            <a:avLst/>
          </a:prstGeom>
          <a:noFill/>
        </p:spPr>
        <p:txBody>
          <a:bodyPr wrap="square" lIns="0" rIns="0" tIns="0" bIns="0" anchor="t">
            <a:spAutoFit/>
          </a:bodyPr>
          <a:lstStyle/>
          <a:p>
            <a:pPr algn="l">
              <a:lnSpc>
                <a:spcPct val="107000"/>
              </a:lnSpc>
              <a:spcBef>
                <a:spcPts val="0"/>
              </a:spcBef>
              <a:spcAft>
                <a:spcPts val="300"/>
              </a:spcAft>
            </a:pPr>
            <a:r>
              <a:rPr sz="1500" b="1">
                <a:solidFill>
                  <a:srgbClr val="067F76"/>
                </a:solidFill>
                <a:latin typeface="Arial"/>
              </a:rPr>
              <a:t>Stable operations;</a:t>
            </a:r>
          </a:p>
          <a:p>
            <a:pPr algn="l">
              <a:lnSpc>
                <a:spcPct val="107000"/>
              </a:lnSpc>
              <a:spcBef>
                <a:spcPts val="0"/>
              </a:spcBef>
              <a:spcAft>
                <a:spcPts val="300"/>
              </a:spcAft>
            </a:pPr>
            <a:r>
              <a:rPr sz="1500" b="1">
                <a:solidFill>
                  <a:srgbClr val="067F76"/>
                </a:solidFill>
                <a:latin typeface="Arial"/>
              </a:rPr>
              <a:t>support handed over.</a:t>
            </a:r>
          </a:p>
        </p:txBody>
      </p:sp>
      <p:sp>
        <p:nvSpPr>
          <p:cNvPr id="37" name="TextBox 36"/>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557080"/>
                </a:solidFill>
                <a:latin typeface="Arial"/>
              </a:rPr>
              <a:t>Pilot duration, rollout schedule and commercials follow discovery. Migration rehearsals, user acceptance and restore checks precede go-live.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B2438"/>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85832" y="256032"/>
            <a:ext cx="1572768" cy="74066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mrg_logo.png"/>
          <p:cNvPicPr>
            <a:picLocks noChangeAspect="1"/>
          </p:cNvPicPr>
          <p:nvPr/>
        </p:nvPicPr>
        <p:blipFill>
          <a:blip r:embed="rId2"/>
          <a:stretch>
            <a:fillRect/>
          </a:stretch>
        </p:blipFill>
        <p:spPr>
          <a:xfrm>
            <a:off x="10168128" y="320040"/>
            <a:ext cx="1408176" cy="625703"/>
          </a:xfrm>
          <a:prstGeom prst="rect">
            <a:avLst/>
          </a:prstGeom>
        </p:spPr>
      </p:pic>
      <p:sp>
        <p:nvSpPr>
          <p:cNvPr id="5" name="TextBox 4"/>
          <p:cNvSpPr txBox="1"/>
          <p:nvPr/>
        </p:nvSpPr>
        <p:spPr>
          <a:xfrm>
            <a:off x="585216" y="365760"/>
            <a:ext cx="9144000"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77CFB3"/>
                </a:solidFill>
                <a:latin typeface="Arial"/>
              </a:rPr>
              <a:t>WHY PMRG • THE NEXT STEP</a:t>
            </a:r>
          </a:p>
        </p:txBody>
      </p:sp>
      <p:sp>
        <p:nvSpPr>
          <p:cNvPr id="6" name="TextBox 5"/>
          <p:cNvSpPr txBox="1"/>
          <p:nvPr/>
        </p:nvSpPr>
        <p:spPr>
          <a:xfrm>
            <a:off x="585216" y="795528"/>
            <a:ext cx="9308592" cy="694944"/>
          </a:xfrm>
          <a:prstGeom prst="rect">
            <a:avLst/>
          </a:prstGeom>
          <a:noFill/>
        </p:spPr>
        <p:txBody>
          <a:bodyPr wrap="square" lIns="0" rIns="0" tIns="0" bIns="0" anchor="t">
            <a:spAutoFit/>
          </a:bodyPr>
          <a:lstStyle/>
          <a:p>
            <a:pPr algn="l">
              <a:lnSpc>
                <a:spcPct val="107000"/>
              </a:lnSpc>
              <a:spcBef>
                <a:spcPts val="0"/>
              </a:spcBef>
              <a:spcAft>
                <a:spcPts val="300"/>
              </a:spcAft>
            </a:pPr>
            <a:r>
              <a:rPr sz="2900" b="1">
                <a:solidFill>
                  <a:srgbClr val="FFFFFF"/>
                </a:solidFill>
                <a:latin typeface="Arial"/>
              </a:rPr>
              <a:t>Build around your college’s priorities</a:t>
            </a:r>
          </a:p>
        </p:txBody>
      </p:sp>
      <p:sp>
        <p:nvSpPr>
          <p:cNvPr id="7" name="TextBox 6"/>
          <p:cNvSpPr txBox="1"/>
          <p:nvPr/>
        </p:nvSpPr>
        <p:spPr>
          <a:xfrm>
            <a:off x="603504" y="1517904"/>
            <a:ext cx="10954512" cy="548640"/>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B8CDD8"/>
                </a:solidFill>
                <a:latin typeface="Arial"/>
              </a:rPr>
              <a:t>PMRG brings workflow design, ERP implementation, software integration and responsible automation together.</a:t>
            </a:r>
          </a:p>
        </p:txBody>
      </p:sp>
      <p:cxnSp>
        <p:nvCxnSpPr>
          <p:cNvPr id="8" name="Connector 7"/>
          <p:cNvCxnSpPr/>
          <p:nvPr/>
        </p:nvCxnSpPr>
        <p:spPr>
          <a:xfrm>
            <a:off x="585216" y="6400800"/>
            <a:ext cx="11009376" cy="0"/>
          </a:xfrm>
          <a:prstGeom prst="line">
            <a:avLst/>
          </a:prstGeom>
          <a:ln w="10160">
            <a:solidFill>
              <a:srgbClr val="25465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4360" y="6528816"/>
            <a:ext cx="8229600" cy="182880"/>
          </a:xfrm>
          <a:prstGeom prst="rect">
            <a:avLst/>
          </a:prstGeom>
          <a:noFill/>
        </p:spPr>
        <p:txBody>
          <a:bodyPr wrap="square" lIns="0" rIns="0" tIns="0" bIns="0" anchor="t">
            <a:spAutoFit/>
          </a:bodyPr>
          <a:lstStyle/>
          <a:p>
            <a:pPr algn="l">
              <a:lnSpc>
                <a:spcPct val="107000"/>
              </a:lnSpc>
              <a:spcBef>
                <a:spcPts val="0"/>
              </a:spcBef>
              <a:spcAft>
                <a:spcPts val="300"/>
              </a:spcAft>
            </a:pPr>
            <a:r>
              <a:rPr sz="900" b="0">
                <a:solidFill>
                  <a:srgbClr val="B8CDD8"/>
                </a:solidFill>
                <a:latin typeface="Arial"/>
              </a:rPr>
              <a:t>PMRG SOLUTION LLP  |  AYURVEDA COLLEGE ERP</a:t>
            </a:r>
          </a:p>
        </p:txBody>
      </p:sp>
      <p:sp>
        <p:nvSpPr>
          <p:cNvPr id="10" name="TextBox 9"/>
          <p:cNvSpPr txBox="1"/>
          <p:nvPr/>
        </p:nvSpPr>
        <p:spPr>
          <a:xfrm>
            <a:off x="10469880" y="6510528"/>
            <a:ext cx="1097280" cy="210312"/>
          </a:xfrm>
          <a:prstGeom prst="rect">
            <a:avLst/>
          </a:prstGeom>
          <a:noFill/>
        </p:spPr>
        <p:txBody>
          <a:bodyPr wrap="square" lIns="0" rIns="0" tIns="0" bIns="0" anchor="t">
            <a:spAutoFit/>
          </a:bodyPr>
          <a:lstStyle/>
          <a:p>
            <a:pPr algn="r">
              <a:lnSpc>
                <a:spcPct val="107000"/>
              </a:lnSpc>
              <a:spcBef>
                <a:spcPts val="0"/>
              </a:spcBef>
              <a:spcAft>
                <a:spcPts val="300"/>
              </a:spcAft>
            </a:pPr>
            <a:r>
              <a:rPr sz="1000" b="0">
                <a:solidFill>
                  <a:srgbClr val="B8CDD8"/>
                </a:solidFill>
                <a:latin typeface="Arial"/>
              </a:rPr>
              <a:t>11 / 11</a:t>
            </a:r>
          </a:p>
        </p:txBody>
      </p:sp>
      <p:sp>
        <p:nvSpPr>
          <p:cNvPr id="11" name="TextBox 10"/>
          <p:cNvSpPr txBox="1"/>
          <p:nvPr/>
        </p:nvSpPr>
        <p:spPr>
          <a:xfrm>
            <a:off x="621792" y="2249424"/>
            <a:ext cx="5870448" cy="1106424"/>
          </a:xfrm>
          <a:prstGeom prst="rect">
            <a:avLst/>
          </a:prstGeom>
          <a:noFill/>
        </p:spPr>
        <p:txBody>
          <a:bodyPr wrap="square" lIns="0" rIns="0" tIns="0" bIns="0" anchor="t">
            <a:spAutoFit/>
          </a:bodyPr>
          <a:lstStyle/>
          <a:p>
            <a:pPr algn="l">
              <a:lnSpc>
                <a:spcPct val="107000"/>
              </a:lnSpc>
              <a:spcBef>
                <a:spcPts val="0"/>
              </a:spcBef>
              <a:spcAft>
                <a:spcPts val="300"/>
              </a:spcAft>
            </a:pPr>
            <a:r>
              <a:rPr sz="3300" b="1">
                <a:solidFill>
                  <a:srgbClr val="FFFFFF"/>
                </a:solidFill>
                <a:latin typeface="Arial"/>
              </a:rPr>
              <a:t>One partner for a</a:t>
            </a:r>
          </a:p>
          <a:p>
            <a:pPr algn="l">
              <a:lnSpc>
                <a:spcPct val="107000"/>
              </a:lnSpc>
              <a:spcBef>
                <a:spcPts val="0"/>
              </a:spcBef>
              <a:spcAft>
                <a:spcPts val="300"/>
              </a:spcAft>
            </a:pPr>
            <a:r>
              <a:rPr sz="3300" b="1">
                <a:solidFill>
                  <a:srgbClr val="FFFFFF"/>
                </a:solidFill>
                <a:latin typeface="Arial"/>
              </a:rPr>
              <a:t>connected institution.</a:t>
            </a:r>
          </a:p>
        </p:txBody>
      </p:sp>
      <p:sp>
        <p:nvSpPr>
          <p:cNvPr id="12" name="Rectangle 11"/>
          <p:cNvSpPr/>
          <p:nvPr/>
        </p:nvSpPr>
        <p:spPr>
          <a:xfrm>
            <a:off x="658368" y="3872484"/>
            <a:ext cx="41148" cy="68580"/>
          </a:xfrm>
          <a:prstGeom prst="rect">
            <a:avLst/>
          </a:prstGeom>
          <a:solidFill>
            <a:srgbClr val="77C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3" y="3776472"/>
            <a:ext cx="5422392" cy="539496"/>
          </a:xfrm>
          <a:prstGeom prst="rect">
            <a:avLst/>
          </a:prstGeom>
          <a:noFill/>
        </p:spPr>
        <p:txBody>
          <a:bodyPr wrap="square" lIns="0" rIns="0" tIns="0" bIns="0" anchor="t">
            <a:spAutoFit/>
          </a:bodyPr>
          <a:lstStyle/>
          <a:p>
            <a:pPr algn="l">
              <a:lnSpc>
                <a:spcPct val="107000"/>
              </a:lnSpc>
              <a:spcBef>
                <a:spcPts val="0"/>
              </a:spcBef>
              <a:spcAft>
                <a:spcPts val="300"/>
              </a:spcAft>
            </a:pPr>
            <a:r>
              <a:rPr sz="1850" b="0">
                <a:solidFill>
                  <a:srgbClr val="B8CDD8"/>
                </a:solidFill>
                <a:latin typeface="Arial"/>
              </a:rPr>
              <a:t>Connected college and hospital workflows.</a:t>
            </a:r>
          </a:p>
        </p:txBody>
      </p:sp>
      <p:sp>
        <p:nvSpPr>
          <p:cNvPr id="14" name="Rectangle 13"/>
          <p:cNvSpPr/>
          <p:nvPr/>
        </p:nvSpPr>
        <p:spPr>
          <a:xfrm>
            <a:off x="658368" y="4439412"/>
            <a:ext cx="41148" cy="68580"/>
          </a:xfrm>
          <a:prstGeom prst="rect">
            <a:avLst/>
          </a:prstGeom>
          <a:solidFill>
            <a:srgbClr val="77C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3" y="4343400"/>
            <a:ext cx="5422392" cy="539496"/>
          </a:xfrm>
          <a:prstGeom prst="rect">
            <a:avLst/>
          </a:prstGeom>
          <a:noFill/>
        </p:spPr>
        <p:txBody>
          <a:bodyPr wrap="square" lIns="0" rIns="0" tIns="0" bIns="0" anchor="t">
            <a:spAutoFit/>
          </a:bodyPr>
          <a:lstStyle/>
          <a:p>
            <a:pPr algn="l">
              <a:lnSpc>
                <a:spcPct val="107000"/>
              </a:lnSpc>
              <a:spcBef>
                <a:spcPts val="0"/>
              </a:spcBef>
              <a:spcAft>
                <a:spcPts val="300"/>
              </a:spcAft>
            </a:pPr>
            <a:r>
              <a:rPr sz="1850" b="0">
                <a:solidFill>
                  <a:srgbClr val="B8CDD8"/>
                </a:solidFill>
                <a:latin typeface="Arial"/>
              </a:rPr>
              <a:t>Scoped Ayurveda software and integrations.</a:t>
            </a:r>
          </a:p>
        </p:txBody>
      </p:sp>
      <p:sp>
        <p:nvSpPr>
          <p:cNvPr id="16" name="Rectangle 15"/>
          <p:cNvSpPr/>
          <p:nvPr/>
        </p:nvSpPr>
        <p:spPr>
          <a:xfrm>
            <a:off x="658368" y="5006340"/>
            <a:ext cx="41148" cy="68580"/>
          </a:xfrm>
          <a:prstGeom prst="rect">
            <a:avLst/>
          </a:prstGeom>
          <a:solidFill>
            <a:srgbClr val="77C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3" y="4910328"/>
            <a:ext cx="5422392" cy="539496"/>
          </a:xfrm>
          <a:prstGeom prst="rect">
            <a:avLst/>
          </a:prstGeom>
          <a:noFill/>
        </p:spPr>
        <p:txBody>
          <a:bodyPr wrap="square" lIns="0" rIns="0" tIns="0" bIns="0" anchor="t">
            <a:spAutoFit/>
          </a:bodyPr>
          <a:lstStyle/>
          <a:p>
            <a:pPr algn="l">
              <a:lnSpc>
                <a:spcPct val="107000"/>
              </a:lnSpc>
              <a:spcBef>
                <a:spcPts val="0"/>
              </a:spcBef>
              <a:spcAft>
                <a:spcPts val="300"/>
              </a:spcAft>
            </a:pPr>
            <a:r>
              <a:rPr sz="1850" b="0">
                <a:solidFill>
                  <a:srgbClr val="B8CDD8"/>
                </a:solidFill>
                <a:latin typeface="Arial"/>
              </a:rPr>
              <a:t>Training, ownership and measurable outcomes.</a:t>
            </a:r>
          </a:p>
        </p:txBody>
      </p:sp>
      <p:sp>
        <p:nvSpPr>
          <p:cNvPr id="18" name="Rounded Rectangle 17"/>
          <p:cNvSpPr/>
          <p:nvPr/>
        </p:nvSpPr>
        <p:spPr>
          <a:xfrm>
            <a:off x="6729984" y="2221992"/>
            <a:ext cx="4828032" cy="353872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6016" y="2496312"/>
            <a:ext cx="4315968" cy="228600"/>
          </a:xfrm>
          <a:prstGeom prst="rect">
            <a:avLst/>
          </a:prstGeom>
          <a:noFill/>
        </p:spPr>
        <p:txBody>
          <a:bodyPr wrap="square" lIns="0" rIns="0" tIns="0" bIns="0" anchor="t">
            <a:spAutoFit/>
          </a:bodyPr>
          <a:lstStyle/>
          <a:p>
            <a:pPr algn="l">
              <a:lnSpc>
                <a:spcPct val="107000"/>
              </a:lnSpc>
              <a:spcBef>
                <a:spcPts val="0"/>
              </a:spcBef>
              <a:spcAft>
                <a:spcPts val="300"/>
              </a:spcAft>
            </a:pPr>
            <a:r>
              <a:rPr sz="1100" b="1">
                <a:solidFill>
                  <a:srgbClr val="067F76"/>
                </a:solidFill>
                <a:latin typeface="Arial"/>
              </a:rPr>
              <a:t>START WITH A 60-MINUTE DISCOVERY</a:t>
            </a:r>
          </a:p>
        </p:txBody>
      </p:sp>
      <p:sp>
        <p:nvSpPr>
          <p:cNvPr id="20" name="TextBox 19"/>
          <p:cNvSpPr txBox="1"/>
          <p:nvPr/>
        </p:nvSpPr>
        <p:spPr>
          <a:xfrm>
            <a:off x="6986016" y="2926080"/>
            <a:ext cx="4279392" cy="722376"/>
          </a:xfrm>
          <a:prstGeom prst="rect">
            <a:avLst/>
          </a:prstGeom>
          <a:noFill/>
        </p:spPr>
        <p:txBody>
          <a:bodyPr wrap="square" lIns="0" rIns="0" tIns="0" bIns="0" anchor="t">
            <a:spAutoFit/>
          </a:bodyPr>
          <a:lstStyle/>
          <a:p>
            <a:pPr algn="l">
              <a:lnSpc>
                <a:spcPct val="107000"/>
              </a:lnSpc>
              <a:spcBef>
                <a:spcPts val="0"/>
              </a:spcBef>
              <a:spcAft>
                <a:spcPts val="300"/>
              </a:spcAft>
            </a:pPr>
            <a:r>
              <a:rPr sz="2000" b="1">
                <a:solidFill>
                  <a:srgbClr val="0B2438"/>
                </a:solidFill>
                <a:latin typeface="Arial"/>
              </a:rPr>
              <a:t>A focused session with your</a:t>
            </a:r>
          </a:p>
          <a:p>
            <a:pPr algn="l">
              <a:lnSpc>
                <a:spcPct val="107000"/>
              </a:lnSpc>
              <a:spcBef>
                <a:spcPts val="0"/>
              </a:spcBef>
              <a:spcAft>
                <a:spcPts val="300"/>
              </a:spcAft>
            </a:pPr>
            <a:r>
              <a:rPr sz="2000" b="1">
                <a:solidFill>
                  <a:srgbClr val="0B2438"/>
                </a:solidFill>
                <a:latin typeface="Arial"/>
              </a:rPr>
              <a:t>college and hospital leaders.</a:t>
            </a:r>
          </a:p>
        </p:txBody>
      </p:sp>
      <p:sp>
        <p:nvSpPr>
          <p:cNvPr id="21" name="Rectangle 20"/>
          <p:cNvSpPr/>
          <p:nvPr/>
        </p:nvSpPr>
        <p:spPr>
          <a:xfrm>
            <a:off x="7004304" y="4027932"/>
            <a:ext cx="41148" cy="68580"/>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8040" y="3931920"/>
            <a:ext cx="4050791" cy="402335"/>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19364A"/>
                </a:solidFill>
                <a:latin typeface="Arial"/>
              </a:rPr>
              <a:t>Choose one priority workflow.</a:t>
            </a:r>
          </a:p>
        </p:txBody>
      </p:sp>
      <p:sp>
        <p:nvSpPr>
          <p:cNvPr id="23" name="Rectangle 22"/>
          <p:cNvSpPr/>
          <p:nvPr/>
        </p:nvSpPr>
        <p:spPr>
          <a:xfrm>
            <a:off x="7004304" y="4457700"/>
            <a:ext cx="41148" cy="68580"/>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78040" y="4361688"/>
            <a:ext cx="4050791" cy="402335"/>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19364A"/>
                </a:solidFill>
                <a:latin typeface="Arial"/>
              </a:rPr>
              <a:t>Review key systems and records.</a:t>
            </a:r>
          </a:p>
        </p:txBody>
      </p:sp>
      <p:sp>
        <p:nvSpPr>
          <p:cNvPr id="25" name="Rectangle 24"/>
          <p:cNvSpPr/>
          <p:nvPr/>
        </p:nvSpPr>
        <p:spPr>
          <a:xfrm>
            <a:off x="7004304" y="4887468"/>
            <a:ext cx="41148" cy="68580"/>
          </a:xfrm>
          <a:prstGeom prst="rect">
            <a:avLst/>
          </a:prstGeom>
          <a:solidFill>
            <a:srgbClr val="06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78040" y="4791456"/>
            <a:ext cx="4050791" cy="402335"/>
          </a:xfrm>
          <a:prstGeom prst="rect">
            <a:avLst/>
          </a:prstGeom>
          <a:noFill/>
        </p:spPr>
        <p:txBody>
          <a:bodyPr wrap="square" lIns="0" rIns="0" tIns="0" bIns="0" anchor="t">
            <a:spAutoFit/>
          </a:bodyPr>
          <a:lstStyle/>
          <a:p>
            <a:pPr algn="l">
              <a:lnSpc>
                <a:spcPct val="107000"/>
              </a:lnSpc>
              <a:spcBef>
                <a:spcPts val="0"/>
              </a:spcBef>
              <a:spcAft>
                <a:spcPts val="300"/>
              </a:spcAft>
            </a:pPr>
            <a:r>
              <a:rPr sz="1650" b="0">
                <a:solidFill>
                  <a:srgbClr val="19364A"/>
                </a:solidFill>
                <a:latin typeface="Arial"/>
              </a:rPr>
              <a:t>Agree scope, outcomes and owners.</a:t>
            </a:r>
          </a:p>
        </p:txBody>
      </p:sp>
      <p:sp>
        <p:nvSpPr>
          <p:cNvPr id="27" name="TextBox 26"/>
          <p:cNvSpPr txBox="1"/>
          <p:nvPr/>
        </p:nvSpPr>
        <p:spPr>
          <a:xfrm>
            <a:off x="6986016" y="5111496"/>
            <a:ext cx="4251960" cy="530352"/>
          </a:xfrm>
          <a:prstGeom prst="rect">
            <a:avLst/>
          </a:prstGeom>
          <a:noFill/>
        </p:spPr>
        <p:txBody>
          <a:bodyPr wrap="square" lIns="0" rIns="0" tIns="0" bIns="0" anchor="t">
            <a:spAutoFit/>
          </a:bodyPr>
          <a:lstStyle/>
          <a:p>
            <a:pPr algn="l">
              <a:lnSpc>
                <a:spcPct val="107000"/>
              </a:lnSpc>
              <a:spcBef>
                <a:spcPts val="0"/>
              </a:spcBef>
              <a:spcAft>
                <a:spcPts val="300"/>
              </a:spcAft>
            </a:pPr>
            <a:r>
              <a:rPr sz="1450" b="1">
                <a:solidFill>
                  <a:srgbClr val="067F76"/>
                </a:solidFill>
                <a:latin typeface="Arial"/>
              </a:rPr>
              <a:t>Then: a tailored demonstration and</a:t>
            </a:r>
          </a:p>
          <a:p>
            <a:pPr algn="l">
              <a:lnSpc>
                <a:spcPct val="107000"/>
              </a:lnSpc>
              <a:spcBef>
                <a:spcPts val="0"/>
              </a:spcBef>
              <a:spcAft>
                <a:spcPts val="300"/>
              </a:spcAft>
            </a:pPr>
            <a:r>
              <a:rPr sz="1450" b="1">
                <a:solidFill>
                  <a:srgbClr val="067F76"/>
                </a:solidFill>
                <a:latin typeface="Arial"/>
              </a:rPr>
              <a:t>a scoped techno-commercial proposal.</a:t>
            </a:r>
          </a:p>
        </p:txBody>
      </p:sp>
      <p:sp>
        <p:nvSpPr>
          <p:cNvPr id="28" name="TextBox 27"/>
          <p:cNvSpPr txBox="1"/>
          <p:nvPr/>
        </p:nvSpPr>
        <p:spPr>
          <a:xfrm>
            <a:off x="667512" y="5605272"/>
            <a:ext cx="5715000" cy="356616"/>
          </a:xfrm>
          <a:prstGeom prst="rect">
            <a:avLst/>
          </a:prstGeom>
          <a:noFill/>
        </p:spPr>
        <p:txBody>
          <a:bodyPr wrap="square" lIns="0" rIns="0" tIns="0" bIns="0" anchor="t">
            <a:spAutoFit/>
          </a:bodyPr>
          <a:lstStyle/>
          <a:p>
            <a:pPr algn="l">
              <a:lnSpc>
                <a:spcPct val="107000"/>
              </a:lnSpc>
              <a:spcBef>
                <a:spcPts val="0"/>
              </a:spcBef>
              <a:spcAft>
                <a:spcPts val="300"/>
              </a:spcAft>
            </a:pPr>
            <a:r>
              <a:rPr sz="2200" b="1">
                <a:solidFill>
                  <a:srgbClr val="77CFB3"/>
                </a:solidFill>
                <a:latin typeface="Arial"/>
              </a:rPr>
              <a:t>support@pmrgsolution.com</a:t>
            </a:r>
          </a:p>
        </p:txBody>
      </p:sp>
      <p:sp>
        <p:nvSpPr>
          <p:cNvPr id="29" name="TextBox 28"/>
          <p:cNvSpPr txBox="1"/>
          <p:nvPr/>
        </p:nvSpPr>
        <p:spPr>
          <a:xfrm>
            <a:off x="612648" y="6099048"/>
            <a:ext cx="10972800" cy="246888"/>
          </a:xfrm>
          <a:prstGeom prst="rect">
            <a:avLst/>
          </a:prstGeom>
          <a:noFill/>
        </p:spPr>
        <p:txBody>
          <a:bodyPr wrap="square" lIns="0" rIns="0" tIns="0" bIns="0" anchor="t">
            <a:spAutoFit/>
          </a:bodyPr>
          <a:lstStyle/>
          <a:p>
            <a:pPr algn="l">
              <a:lnSpc>
                <a:spcPct val="107000"/>
              </a:lnSpc>
              <a:spcBef>
                <a:spcPts val="0"/>
              </a:spcBef>
              <a:spcAft>
                <a:spcPts val="300"/>
              </a:spcAft>
            </a:pPr>
            <a:r>
              <a:rPr sz="1019" b="0">
                <a:solidFill>
                  <a:srgbClr val="B8CDD8"/>
                </a:solidFill>
                <a:latin typeface="Arial"/>
              </a:rPr>
              <a:t>Commercials separate implementation, customisation, integrations, migration, hosting, third-party services and ongoing support.</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PMRG Solution LLP</dc:creator>
  <lastModifiedBy>Walnut Exporter</lastModifiedBy>
  <dc:title>PMRG | Ayurveda College ERP &amp; Software Solution</dc:title>
  <dcterms:created xsi:type="dcterms:W3CDTF">2026-10-05T14:58:45.5020000Z</dcterms:created>
  <dcterms:modified xsi:type="dcterms:W3CDTF">2026-10-05T14:58:45.5020000Z</dcterms:modified>
  <dc:subject>An integrated ERP, digital campus and teaching hospital proposal</dc:subject>
  <keywords>Ayurveda, college, ERPNext, Frappe, BAMS, teaching hospital, Panchakarma, pharmacy, PMRG</keywords>
  <dc:description>Tailored solution pitch. Scope and benefits subject to college discovery and validation.</dc:description>
</coreProperties>
</file>